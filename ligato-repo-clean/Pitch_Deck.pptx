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F59E0B"/>
          </a:solidFill>
          <a:ln w="12700">
            <a:solidFill>
              <a:srgbClr val="F59E0B"/>
            </a:solidFill>
            <a:prstDash val="solid"/>
          </a:ln>
        </p:spPr>
      </p:sp>
      <p:sp>
        <p:nvSpPr>
          <p:cNvPr id="3" name="Shape 1"/>
          <p:cNvSpPr/>
          <p:nvPr/>
        </p:nvSpPr>
        <p:spPr>
          <a:xfrm>
            <a:off x="822960" y="640080"/>
            <a:ext cx="502920" cy="502920"/>
          </a:xfrm>
          <a:prstGeom prst="roundRect">
            <a:avLst>
              <a:gd name="adj" fmla="val 14545"/>
            </a:avLst>
          </a:prstGeom>
          <a:solidFill>
            <a:srgbClr val="2563EB"/>
          </a:solidFill>
          <a:ln w="12700">
            <a:solidFill>
              <a:srgbClr val="2563EB"/>
            </a:solidFill>
            <a:prstDash val="solid"/>
          </a:ln>
        </p:spPr>
      </p:sp>
      <p:sp>
        <p:nvSpPr>
          <p:cNvPr id="4" name="Text 2"/>
          <p:cNvSpPr/>
          <p:nvPr/>
        </p:nvSpPr>
        <p:spPr>
          <a:xfrm>
            <a:off x="822960" y="640080"/>
            <a:ext cx="502920"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L</a:t>
            </a:r>
            <a:endParaRPr lang="en-US" sz="2800" dirty="0"/>
          </a:p>
        </p:txBody>
      </p:sp>
      <p:sp>
        <p:nvSpPr>
          <p:cNvPr id="5" name="Text 3"/>
          <p:cNvSpPr/>
          <p:nvPr/>
        </p:nvSpPr>
        <p:spPr>
          <a:xfrm>
            <a:off x="1417320" y="685800"/>
            <a:ext cx="36576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Ligato AI</a:t>
            </a:r>
            <a:endParaRPr lang="en-US" sz="1600" dirty="0"/>
          </a:p>
        </p:txBody>
      </p:sp>
      <p:sp>
        <p:nvSpPr>
          <p:cNvPr id="6" name="Text 4"/>
          <p:cNvSpPr/>
          <p:nvPr/>
        </p:nvSpPr>
        <p:spPr>
          <a:xfrm>
            <a:off x="822960" y="2103120"/>
            <a:ext cx="7315200" cy="365760"/>
          </a:xfrm>
          <a:prstGeom prst="rect">
            <a:avLst/>
          </a:prstGeom>
          <a:noFill/>
          <a:ln/>
        </p:spPr>
        <p:txBody>
          <a:bodyPr wrap="square" lIns="0" tIns="0" rIns="0" bIns="0" rtlCol="0" anchor="ctr"/>
          <a:lstStyle/>
          <a:p>
            <a:pPr indent="0" marL="0">
              <a:buNone/>
            </a:pPr>
            <a:r>
              <a:rPr lang="en-US" sz="1200" b="1" spc="600" kern="0" dirty="0">
                <a:solidFill>
                  <a:srgbClr val="F59E0B"/>
                </a:solidFill>
                <a:latin typeface="Calibri" pitchFamily="34" charset="0"/>
                <a:ea typeface="Calibri" pitchFamily="34" charset="-122"/>
                <a:cs typeface="Calibri" pitchFamily="34" charset="-120"/>
              </a:rPr>
              <a:t>NEW · AI VISION ASSISTANT</a:t>
            </a:r>
            <a:endParaRPr lang="en-US" sz="1200" dirty="0"/>
          </a:p>
        </p:txBody>
      </p:sp>
      <p:sp>
        <p:nvSpPr>
          <p:cNvPr id="7" name="Text 5"/>
          <p:cNvSpPr/>
          <p:nvPr/>
        </p:nvSpPr>
        <p:spPr>
          <a:xfrm>
            <a:off x="822960" y="2606040"/>
            <a:ext cx="10515600" cy="2194560"/>
          </a:xfrm>
          <a:prstGeom prst="rect">
            <a:avLst/>
          </a:prstGeom>
          <a:noFill/>
          <a:ln/>
        </p:spPr>
        <p:txBody>
          <a:bodyPr wrap="square" lIns="0" tIns="0" rIns="0" bIns="0"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Voice does the talking.</a:t>
            </a:r>
            <a:endParaRPr lang="en-US" sz="6600" dirty="0"/>
          </a:p>
          <a:p>
            <a:pPr indent="0" marL="0">
              <a:buNone/>
            </a:pPr>
            <a:r>
              <a:rPr lang="en-US" sz="6600" b="1" dirty="0">
                <a:solidFill>
                  <a:srgbClr val="FFFFFF"/>
                </a:solidFill>
                <a:latin typeface="Calibri" pitchFamily="34" charset="0"/>
                <a:ea typeface="Calibri" pitchFamily="34" charset="-122"/>
                <a:cs typeface="Calibri" pitchFamily="34" charset="-120"/>
              </a:rPr>
              <a:t>MMS does the seeing.</a:t>
            </a:r>
            <a:endParaRPr lang="en-US" sz="6600" dirty="0"/>
          </a:p>
        </p:txBody>
      </p:sp>
      <p:sp>
        <p:nvSpPr>
          <p:cNvPr id="8" name="Text 6"/>
          <p:cNvSpPr/>
          <p:nvPr/>
        </p:nvSpPr>
        <p:spPr>
          <a:xfrm>
            <a:off x="822960" y="4846320"/>
            <a:ext cx="10058400" cy="548640"/>
          </a:xfrm>
          <a:prstGeom prst="rect">
            <a:avLst/>
          </a:prstGeom>
          <a:noFill/>
          <a:ln/>
        </p:spPr>
        <p:txBody>
          <a:bodyPr wrap="square" lIns="0" tIns="0" rIns="0" bIns="0" rtlCol="0" anchor="ctr"/>
          <a:lstStyle/>
          <a:p>
            <a:pPr indent="0" marL="0">
              <a:buNone/>
            </a:pPr>
            <a:r>
              <a:rPr lang="en-US" sz="2000" i="1" dirty="0">
                <a:solidFill>
                  <a:srgbClr val="CBD5E1"/>
                </a:solidFill>
                <a:latin typeface="Calibri" pitchFamily="34" charset="0"/>
                <a:ea typeface="Calibri" pitchFamily="34" charset="-122"/>
                <a:cs typeface="Calibri" pitchFamily="34" charset="-120"/>
              </a:rPr>
              <a:t>Adding eyes to the AI receptionist tradespeople already trust.</a:t>
            </a:r>
            <a:endParaRPr lang="en-US" sz="2000" dirty="0"/>
          </a:p>
        </p:txBody>
      </p:sp>
      <p:sp>
        <p:nvSpPr>
          <p:cNvPr id="9" name="Text 7"/>
          <p:cNvSpPr/>
          <p:nvPr/>
        </p:nvSpPr>
        <p:spPr>
          <a:xfrm>
            <a:off x="822960" y="6126480"/>
            <a:ext cx="8229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April 2026 · Product &amp; Engineering · Confidential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F59E0B"/>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40080" y="868680"/>
            <a:ext cx="7132320" cy="10058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Home-service pros lose the first 90 seconds of every emergency.</a:t>
            </a:r>
            <a:endParaRPr lang="en-US" sz="3200" dirty="0"/>
          </a:p>
        </p:txBody>
      </p:sp>
      <p:sp>
        <p:nvSpPr>
          <p:cNvPr id="4" name="Text 2"/>
          <p:cNvSpPr/>
          <p:nvPr/>
        </p:nvSpPr>
        <p:spPr>
          <a:xfrm>
            <a:off x="640080" y="2926080"/>
            <a:ext cx="6675120" cy="2286000"/>
          </a:xfrm>
          <a:prstGeom prst="rect">
            <a:avLst/>
          </a:prstGeom>
          <a:noFill/>
          <a:ln/>
        </p:spPr>
        <p:txBody>
          <a:bodyPr wrap="square" lIns="0" tIns="0" rIns="0" bIns="0" rtlCol="0" anchor="ctr"/>
          <a:lstStyle/>
          <a:p>
            <a:pPr indent="0" marL="0">
              <a:lnSpc>
                <a:spcPct val="130000"/>
              </a:lnSpc>
              <a:buNone/>
            </a:pPr>
            <a:r>
              <a:rPr lang="en-US" sz="1600" dirty="0">
                <a:solidFill>
                  <a:srgbClr val="CBD5E1"/>
                </a:solidFill>
                <a:latin typeface="Calibri" pitchFamily="34" charset="0"/>
                <a:ea typeface="Calibri" pitchFamily="34" charset="-122"/>
                <a:cs typeface="Calibri" pitchFamily="34" charset="-120"/>
              </a:rPr>
              <a:t>When water’s on the floor and a customer is panicking, the AI voice agent can take the call — but it can’t see. It has to guess, or ask the customer to describe plumbing parts they can’t name. Either way, the damage keeps spreading and the next guy picks up the job.</a:t>
            </a:r>
            <a:endParaRPr lang="en-US" sz="1600" dirty="0"/>
          </a:p>
        </p:txBody>
      </p:sp>
      <p:sp>
        <p:nvSpPr>
          <p:cNvPr id="5" name="Shape 3"/>
          <p:cNvSpPr/>
          <p:nvPr/>
        </p:nvSpPr>
        <p:spPr>
          <a:xfrm>
            <a:off x="7955280" y="2743200"/>
            <a:ext cx="3657600" cy="3566160"/>
          </a:xfrm>
          <a:prstGeom prst="rect">
            <a:avLst/>
          </a:prstGeom>
          <a:solidFill>
            <a:srgbClr val="1E293B"/>
          </a:solidFill>
          <a:ln w="25400">
            <a:solidFill>
              <a:srgbClr val="F59E0B"/>
            </a:solidFill>
            <a:prstDash val="solid"/>
          </a:ln>
          <a:effectLst>
            <a:outerShdw sx="100000" sy="100000" kx="0" ky="0" algn="bl" rotWithShape="0" blurRad="254000" dist="50800" dir="8100000">
              <a:srgbClr val="000000">
                <a:alpha val="30000"/>
              </a:srgbClr>
            </a:outerShdw>
          </a:effectLst>
        </p:spPr>
      </p:sp>
      <p:sp>
        <p:nvSpPr>
          <p:cNvPr id="6" name="Text 4"/>
          <p:cNvSpPr/>
          <p:nvPr/>
        </p:nvSpPr>
        <p:spPr>
          <a:xfrm>
            <a:off x="7955280" y="3017520"/>
            <a:ext cx="3657600" cy="1463040"/>
          </a:xfrm>
          <a:prstGeom prst="rect">
            <a:avLst/>
          </a:prstGeom>
          <a:noFill/>
          <a:ln/>
        </p:spPr>
        <p:txBody>
          <a:bodyPr wrap="square" lIns="0" tIns="0" rIns="0" bIns="0" rtlCol="0" anchor="ctr"/>
          <a:lstStyle/>
          <a:p>
            <a:pPr algn="ctr" indent="0" marL="0">
              <a:buNone/>
            </a:pPr>
            <a:r>
              <a:rPr lang="en-US" sz="11000" b="1" dirty="0">
                <a:solidFill>
                  <a:srgbClr val="F59E0B"/>
                </a:solidFill>
                <a:latin typeface="Calibri" pitchFamily="34" charset="0"/>
                <a:ea typeface="Calibri" pitchFamily="34" charset="-122"/>
                <a:cs typeface="Calibri" pitchFamily="34" charset="-120"/>
              </a:rPr>
              <a:t>3–4</a:t>
            </a:r>
            <a:endParaRPr lang="en-US" sz="11000" dirty="0"/>
          </a:p>
        </p:txBody>
      </p:sp>
      <p:sp>
        <p:nvSpPr>
          <p:cNvPr id="7" name="Text 5"/>
          <p:cNvSpPr/>
          <p:nvPr/>
        </p:nvSpPr>
        <p:spPr>
          <a:xfrm>
            <a:off x="7955280" y="4572000"/>
            <a:ext cx="3657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emergency jobs / week</a:t>
            </a:r>
            <a:endParaRPr lang="en-US" sz="1400" dirty="0"/>
          </a:p>
        </p:txBody>
      </p:sp>
      <p:sp>
        <p:nvSpPr>
          <p:cNvPr id="8" name="Text 6"/>
          <p:cNvSpPr/>
          <p:nvPr/>
        </p:nvSpPr>
        <p:spPr>
          <a:xfrm>
            <a:off x="7955280" y="5029200"/>
            <a:ext cx="3657600" cy="411480"/>
          </a:xfrm>
          <a:prstGeom prst="rect">
            <a:avLst/>
          </a:prstGeom>
          <a:noFill/>
          <a:ln/>
        </p:spPr>
        <p:txBody>
          <a:bodyPr wrap="square" lIns="0" tIns="0" rIns="0" bIns="0" rtlCol="0" anchor="ctr"/>
          <a:lstStyle/>
          <a:p>
            <a:pPr algn="ctr" indent="0" marL="0">
              <a:buNone/>
            </a:pPr>
            <a:r>
              <a:rPr lang="en-US" sz="1200" i="1" dirty="0">
                <a:solidFill>
                  <a:srgbClr val="94A3B8"/>
                </a:solidFill>
                <a:latin typeface="Calibri" pitchFamily="34" charset="0"/>
                <a:ea typeface="Calibri" pitchFamily="34" charset="-122"/>
                <a:cs typeface="Calibri" pitchFamily="34" charset="-120"/>
              </a:rPr>
              <a:t>lost to the guy who answered first.</a:t>
            </a:r>
            <a:endParaRPr lang="en-US" sz="1200" dirty="0"/>
          </a:p>
        </p:txBody>
      </p:sp>
      <p:sp>
        <p:nvSpPr>
          <p:cNvPr id="9" name="Text 7"/>
          <p:cNvSpPr/>
          <p:nvPr/>
        </p:nvSpPr>
        <p:spPr>
          <a:xfrm>
            <a:off x="7955280" y="5760720"/>
            <a:ext cx="3657600" cy="36576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 Mike Johnson, Johnson Plumbing &amp; Drain</a:t>
            </a:r>
            <a:endParaRPr lang="en-US" sz="1000" dirty="0"/>
          </a:p>
        </p:txBody>
      </p:sp>
      <p:sp>
        <p:nvSpPr>
          <p:cNvPr id="10" name="Text 8"/>
          <p:cNvSpPr/>
          <p:nvPr/>
        </p:nvSpPr>
        <p:spPr>
          <a:xfrm>
            <a:off x="640080" y="6492240"/>
            <a:ext cx="45720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Ligato AI Vision</a:t>
            </a:r>
            <a:endParaRPr lang="en-US" sz="900" dirty="0"/>
          </a:p>
        </p:txBody>
      </p:sp>
      <p:sp>
        <p:nvSpPr>
          <p:cNvPr id="11" name="Text 9"/>
          <p:cNvSpPr/>
          <p:nvPr/>
        </p:nvSpPr>
        <p:spPr>
          <a:xfrm>
            <a:off x="11247120" y="6492240"/>
            <a:ext cx="27432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2563EB"/>
                </a:solidFill>
                <a:latin typeface="Calibri" pitchFamily="34" charset="0"/>
                <a:ea typeface="Calibri" pitchFamily="34" charset="-122"/>
                <a:cs typeface="Calibri" pitchFamily="34" charset="-120"/>
              </a:rPr>
              <a:t>THE INSIGHT</a:t>
            </a:r>
            <a:endParaRPr lang="en-US" sz="1100" dirty="0"/>
          </a:p>
        </p:txBody>
      </p:sp>
      <p:sp>
        <p:nvSpPr>
          <p:cNvPr id="3" name="Text 1"/>
          <p:cNvSpPr/>
          <p:nvPr/>
        </p:nvSpPr>
        <p:spPr>
          <a:xfrm>
            <a:off x="640080" y="868680"/>
            <a:ext cx="10607040" cy="1005840"/>
          </a:xfrm>
          <a:prstGeom prst="rect">
            <a:avLst/>
          </a:prstGeom>
          <a:noFill/>
          <a:ln/>
        </p:spPr>
        <p:txBody>
          <a:bodyPr wrap="square" lIns="0" tIns="0" rIns="0" bIns="0" rtlCol="0" anchor="t"/>
          <a:lstStyle/>
          <a:p>
            <a:pPr algn="l" indent="0" marL="0">
              <a:buNone/>
            </a:pPr>
            <a:r>
              <a:rPr lang="en-US" sz="4000" b="1" dirty="0">
                <a:solidFill>
                  <a:srgbClr val="0B1220"/>
                </a:solidFill>
                <a:latin typeface="Calibri" pitchFamily="34" charset="0"/>
                <a:ea typeface="Calibri" pitchFamily="34" charset="-122"/>
                <a:cs typeface="Calibri" pitchFamily="34" charset="-120"/>
              </a:rPr>
              <a:t>Customers don’t want a new app.</a:t>
            </a:r>
            <a:endParaRPr lang="en-US" sz="4000" dirty="0"/>
          </a:p>
          <a:p>
            <a:pPr algn="l" indent="0" marL="0">
              <a:buNone/>
            </a:pPr>
            <a:r>
              <a:rPr lang="en-US" sz="4000" b="1" dirty="0">
                <a:solidFill>
                  <a:srgbClr val="0B1220"/>
                </a:solidFill>
                <a:latin typeface="Calibri" pitchFamily="34" charset="0"/>
                <a:ea typeface="Calibri" pitchFamily="34" charset="-122"/>
                <a:cs typeface="Calibri" pitchFamily="34" charset="-120"/>
              </a:rPr>
              <a:t>They want to show the problem.</a:t>
            </a:r>
            <a:endParaRPr lang="en-US" sz="4000" dirty="0"/>
          </a:p>
        </p:txBody>
      </p:sp>
      <p:sp>
        <p:nvSpPr>
          <p:cNvPr id="4" name="Text 2"/>
          <p:cNvSpPr/>
          <p:nvPr/>
        </p:nvSpPr>
        <p:spPr>
          <a:xfrm>
            <a:off x="640080" y="2743200"/>
            <a:ext cx="8229600" cy="1188720"/>
          </a:xfrm>
          <a:prstGeom prst="rect">
            <a:avLst/>
          </a:prstGeom>
          <a:noFill/>
          <a:ln/>
        </p:spPr>
        <p:txBody>
          <a:bodyPr wrap="square" lIns="0" tIns="0" rIns="0" bIns="0" rtlCol="0" anchor="ctr"/>
          <a:lstStyle/>
          <a:p>
            <a:pPr indent="0" marL="0">
              <a:lnSpc>
                <a:spcPct val="140000"/>
              </a:lnSpc>
              <a:buNone/>
            </a:pPr>
            <a:r>
              <a:rPr lang="en-US" sz="1800" dirty="0">
                <a:solidFill>
                  <a:srgbClr val="64748B"/>
                </a:solidFill>
                <a:latin typeface="Calibri" pitchFamily="34" charset="0"/>
                <a:ea typeface="Calibri" pitchFamily="34" charset="-122"/>
                <a:cs typeface="Calibri" pitchFamily="34" charset="-120"/>
              </a:rPr>
              <a:t>They already have a camera and a phone. They just need someone — or something — on the other end that can actually see.</a:t>
            </a:r>
            <a:endParaRPr lang="en-US" sz="1800" dirty="0"/>
          </a:p>
        </p:txBody>
      </p:sp>
      <p:sp>
        <p:nvSpPr>
          <p:cNvPr id="5" name="Shape 3"/>
          <p:cNvSpPr/>
          <p:nvPr/>
        </p:nvSpPr>
        <p:spPr>
          <a:xfrm>
            <a:off x="640080" y="4114800"/>
            <a:ext cx="146304" cy="685800"/>
          </a:xfrm>
          <a:prstGeom prst="rect">
            <a:avLst/>
          </a:prstGeom>
          <a:solidFill>
            <a:srgbClr val="2563EB"/>
          </a:solidFill>
          <a:ln/>
        </p:spPr>
      </p:sp>
      <p:sp>
        <p:nvSpPr>
          <p:cNvPr id="6" name="Text 4"/>
          <p:cNvSpPr/>
          <p:nvPr/>
        </p:nvSpPr>
        <p:spPr>
          <a:xfrm>
            <a:off x="960120" y="4114800"/>
            <a:ext cx="1828800" cy="320040"/>
          </a:xfrm>
          <a:prstGeom prst="rect">
            <a:avLst/>
          </a:prstGeom>
          <a:noFill/>
          <a:ln/>
        </p:spPr>
        <p:txBody>
          <a:bodyPr wrap="square" lIns="0" tIns="0" rIns="0" bIns="0" rtlCol="0" anchor="ctr"/>
          <a:lstStyle/>
          <a:p>
            <a:pPr indent="0" marL="0">
              <a:buNone/>
            </a:pPr>
            <a:r>
              <a:rPr lang="en-US" sz="1200" b="1" spc="600" kern="0" dirty="0">
                <a:solidFill>
                  <a:srgbClr val="2563EB"/>
                </a:solidFill>
                <a:latin typeface="Calibri" pitchFamily="34" charset="0"/>
                <a:ea typeface="Calibri" pitchFamily="34" charset="-122"/>
                <a:cs typeface="Calibri" pitchFamily="34" charset="-120"/>
              </a:rPr>
              <a:t>VOICE</a:t>
            </a:r>
            <a:endParaRPr lang="en-US" sz="1200" dirty="0"/>
          </a:p>
        </p:txBody>
      </p:sp>
      <p:sp>
        <p:nvSpPr>
          <p:cNvPr id="7" name="Text 5"/>
          <p:cNvSpPr/>
          <p:nvPr/>
        </p:nvSpPr>
        <p:spPr>
          <a:xfrm>
            <a:off x="960120" y="4389120"/>
            <a:ext cx="9144000" cy="457200"/>
          </a:xfrm>
          <a:prstGeom prst="rect">
            <a:avLst/>
          </a:prstGeom>
          <a:noFill/>
          <a:ln/>
        </p:spPr>
        <p:txBody>
          <a:bodyPr wrap="square" lIns="0" tIns="0" rIns="0" bIns="0" rtlCol="0" anchor="ctr"/>
          <a:lstStyle/>
          <a:p>
            <a:pPr indent="0" marL="0">
              <a:buNone/>
            </a:pPr>
            <a:r>
              <a:rPr lang="en-US" sz="2000" dirty="0">
                <a:solidFill>
                  <a:srgbClr val="0B1220"/>
                </a:solidFill>
                <a:latin typeface="Calibri" pitchFamily="34" charset="0"/>
                <a:ea typeface="Calibri" pitchFamily="34" charset="-122"/>
                <a:cs typeface="Calibri" pitchFamily="34" charset="-120"/>
              </a:rPr>
              <a:t>The brain. Guides, reasons, empathizes.</a:t>
            </a:r>
            <a:endParaRPr lang="en-US" sz="2000" dirty="0"/>
          </a:p>
        </p:txBody>
      </p:sp>
      <p:sp>
        <p:nvSpPr>
          <p:cNvPr id="8" name="Shape 6"/>
          <p:cNvSpPr/>
          <p:nvPr/>
        </p:nvSpPr>
        <p:spPr>
          <a:xfrm>
            <a:off x="640080" y="5029200"/>
            <a:ext cx="146304" cy="685800"/>
          </a:xfrm>
          <a:prstGeom prst="rect">
            <a:avLst/>
          </a:prstGeom>
          <a:solidFill>
            <a:srgbClr val="F59E0B"/>
          </a:solidFill>
          <a:ln/>
        </p:spPr>
      </p:sp>
      <p:sp>
        <p:nvSpPr>
          <p:cNvPr id="9" name="Text 7"/>
          <p:cNvSpPr/>
          <p:nvPr/>
        </p:nvSpPr>
        <p:spPr>
          <a:xfrm>
            <a:off x="960120" y="5029200"/>
            <a:ext cx="1828800" cy="320040"/>
          </a:xfrm>
          <a:prstGeom prst="rect">
            <a:avLst/>
          </a:prstGeom>
          <a:noFill/>
          <a:ln/>
        </p:spPr>
        <p:txBody>
          <a:bodyPr wrap="square" lIns="0" tIns="0" rIns="0" bIns="0" rtlCol="0" anchor="ctr"/>
          <a:lstStyle/>
          <a:p>
            <a:pPr indent="0" marL="0">
              <a:buNone/>
            </a:pPr>
            <a:r>
              <a:rPr lang="en-US" sz="1200" b="1" spc="600" kern="0" dirty="0">
                <a:solidFill>
                  <a:srgbClr val="F59E0B"/>
                </a:solidFill>
                <a:latin typeface="Calibri" pitchFamily="34" charset="0"/>
                <a:ea typeface="Calibri" pitchFamily="34" charset="-122"/>
                <a:cs typeface="Calibri" pitchFamily="34" charset="-120"/>
              </a:rPr>
              <a:t>MMS</a:t>
            </a:r>
            <a:endParaRPr lang="en-US" sz="1200" dirty="0"/>
          </a:p>
        </p:txBody>
      </p:sp>
      <p:sp>
        <p:nvSpPr>
          <p:cNvPr id="10" name="Text 8"/>
          <p:cNvSpPr/>
          <p:nvPr/>
        </p:nvSpPr>
        <p:spPr>
          <a:xfrm>
            <a:off x="960120" y="5303520"/>
            <a:ext cx="9144000" cy="457200"/>
          </a:xfrm>
          <a:prstGeom prst="rect">
            <a:avLst/>
          </a:prstGeom>
          <a:noFill/>
          <a:ln/>
        </p:spPr>
        <p:txBody>
          <a:bodyPr wrap="square" lIns="0" tIns="0" rIns="0" bIns="0" rtlCol="0" anchor="ctr"/>
          <a:lstStyle/>
          <a:p>
            <a:pPr indent="0" marL="0">
              <a:buNone/>
            </a:pPr>
            <a:r>
              <a:rPr lang="en-US" sz="2000" dirty="0">
                <a:solidFill>
                  <a:srgbClr val="0B1220"/>
                </a:solidFill>
                <a:latin typeface="Calibri" pitchFamily="34" charset="0"/>
                <a:ea typeface="Calibri" pitchFamily="34" charset="-122"/>
                <a:cs typeface="Calibri" pitchFamily="34" charset="-120"/>
              </a:rPr>
              <a:t>The eye. Ships a photo. Gets a confirmation.</a:t>
            </a:r>
            <a:endParaRPr lang="en-US" sz="2000" dirty="0"/>
          </a:p>
        </p:txBody>
      </p:sp>
      <p:sp>
        <p:nvSpPr>
          <p:cNvPr id="11" name="Shape 9"/>
          <p:cNvSpPr/>
          <p:nvPr/>
        </p:nvSpPr>
        <p:spPr>
          <a:xfrm>
            <a:off x="640080" y="5943600"/>
            <a:ext cx="10972800" cy="457200"/>
          </a:xfrm>
          <a:prstGeom prst="rect">
            <a:avLst/>
          </a:prstGeom>
          <a:solidFill>
            <a:srgbClr val="EFF6FF"/>
          </a:solidFill>
          <a:ln/>
        </p:spPr>
      </p:sp>
      <p:sp>
        <p:nvSpPr>
          <p:cNvPr id="12" name="Shape 10"/>
          <p:cNvSpPr/>
          <p:nvPr/>
        </p:nvSpPr>
        <p:spPr>
          <a:xfrm>
            <a:off x="640080" y="5943600"/>
            <a:ext cx="73152" cy="457200"/>
          </a:xfrm>
          <a:prstGeom prst="rect">
            <a:avLst/>
          </a:prstGeom>
          <a:solidFill>
            <a:srgbClr val="2563EB"/>
          </a:solidFill>
          <a:ln/>
        </p:spPr>
      </p:sp>
      <p:sp>
        <p:nvSpPr>
          <p:cNvPr id="13" name="Text 11"/>
          <p:cNvSpPr/>
          <p:nvPr/>
        </p:nvSpPr>
        <p:spPr>
          <a:xfrm>
            <a:off x="868680" y="5943600"/>
            <a:ext cx="10698480" cy="457200"/>
          </a:xfrm>
          <a:prstGeom prst="rect">
            <a:avLst/>
          </a:prstGeom>
          <a:noFill/>
          <a:ln/>
        </p:spPr>
        <p:txBody>
          <a:bodyPr wrap="square" lIns="0" tIns="0" rIns="0" bIns="0" rtlCol="0" anchor="ctr"/>
          <a:lstStyle/>
          <a:p>
            <a:pPr indent="0" marL="0">
              <a:buNone/>
            </a:pPr>
            <a:r>
              <a:rPr lang="en-US" sz="1300" i="1" dirty="0">
                <a:solidFill>
                  <a:srgbClr val="1D4ED8"/>
                </a:solidFill>
                <a:latin typeface="Calibri" pitchFamily="34" charset="0"/>
                <a:ea typeface="Calibri" pitchFamily="34" charset="-122"/>
                <a:cs typeface="Calibri" pitchFamily="34" charset="-120"/>
              </a:rPr>
              <a:t>Reuse what the customer already has: their voice, their camera, one phone number.</a:t>
            </a:r>
            <a:endParaRPr lang="en-US" sz="1300" dirty="0"/>
          </a:p>
        </p:txBody>
      </p:sp>
      <p:sp>
        <p:nvSpPr>
          <p:cNvPr id="14" name="Text 12"/>
          <p:cNvSpPr/>
          <p:nvPr/>
        </p:nvSpPr>
        <p:spPr>
          <a:xfrm>
            <a:off x="640080" y="6492240"/>
            <a:ext cx="4572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Ligato AI Vision</a:t>
            </a:r>
            <a:endParaRPr lang="en-US" sz="900" dirty="0"/>
          </a:p>
        </p:txBody>
      </p:sp>
      <p:sp>
        <p:nvSpPr>
          <p:cNvPr id="15" name="Text 13"/>
          <p:cNvSpPr/>
          <p:nvPr/>
        </p:nvSpPr>
        <p:spPr>
          <a:xfrm>
            <a:off x="11247120" y="6492240"/>
            <a:ext cx="2743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F59E0B"/>
          </a:solidFill>
          <a:ln w="12700">
            <a:solidFill>
              <a:srgbClr val="F59E0B"/>
            </a:solidFill>
            <a:prstDash val="solid"/>
          </a:ln>
        </p:spPr>
      </p:sp>
      <p:sp>
        <p:nvSpPr>
          <p:cNvPr id="3" name="Text 1"/>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F59E0B"/>
                </a:solidFill>
                <a:latin typeface="Calibri" pitchFamily="34" charset="0"/>
                <a:ea typeface="Calibri" pitchFamily="34" charset="-122"/>
                <a:cs typeface="Calibri" pitchFamily="34" charset="-120"/>
              </a:rPr>
              <a:t>THE PRODUCT</a:t>
            </a:r>
            <a:endParaRPr lang="en-US" sz="1100" dirty="0"/>
          </a:p>
        </p:txBody>
      </p:sp>
      <p:sp>
        <p:nvSpPr>
          <p:cNvPr id="4" name="Text 2"/>
          <p:cNvSpPr/>
          <p:nvPr/>
        </p:nvSpPr>
        <p:spPr>
          <a:xfrm>
            <a:off x="640080" y="868680"/>
            <a:ext cx="106070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libri" pitchFamily="34" charset="0"/>
                <a:ea typeface="Calibri" pitchFamily="34" charset="-122"/>
                <a:cs typeface="Calibri" pitchFamily="34" charset="-120"/>
              </a:rPr>
              <a:t>AI Vision Assistant — an add-on to AI Voice.</a:t>
            </a:r>
            <a:endParaRPr lang="en-US" sz="3400" dirty="0"/>
          </a:p>
        </p:txBody>
      </p:sp>
      <p:sp>
        <p:nvSpPr>
          <p:cNvPr id="5" name="Text 3"/>
          <p:cNvSpPr/>
          <p:nvPr/>
        </p:nvSpPr>
        <p:spPr>
          <a:xfrm>
            <a:off x="640080" y="2011680"/>
            <a:ext cx="10972800" cy="45720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Alex, your existing AI receptionist, gets two new capabilities:</a:t>
            </a:r>
            <a:endParaRPr lang="en-US" sz="1600" dirty="0"/>
          </a:p>
        </p:txBody>
      </p:sp>
      <p:sp>
        <p:nvSpPr>
          <p:cNvPr id="6" name="Shape 4"/>
          <p:cNvSpPr/>
          <p:nvPr/>
        </p:nvSpPr>
        <p:spPr>
          <a:xfrm>
            <a:off x="640080" y="2834640"/>
            <a:ext cx="5303520" cy="3291840"/>
          </a:xfrm>
          <a:prstGeom prst="rect">
            <a:avLst/>
          </a:prstGeom>
          <a:solidFill>
            <a:srgbClr val="1E293B"/>
          </a:solidFill>
          <a:ln w="12700">
            <a:solidFill>
              <a:srgbClr val="334155"/>
            </a:solidFill>
            <a:prstDash val="solid"/>
          </a:ln>
        </p:spPr>
      </p:sp>
      <p:sp>
        <p:nvSpPr>
          <p:cNvPr id="7" name="Shape 5"/>
          <p:cNvSpPr/>
          <p:nvPr/>
        </p:nvSpPr>
        <p:spPr>
          <a:xfrm>
            <a:off x="640080" y="2834640"/>
            <a:ext cx="73152" cy="3291840"/>
          </a:xfrm>
          <a:prstGeom prst="rect">
            <a:avLst/>
          </a:prstGeom>
          <a:solidFill>
            <a:srgbClr val="F59E0B"/>
          </a:solidFill>
          <a:ln w="12700">
            <a:solidFill>
              <a:srgbClr val="F59E0B"/>
            </a:solidFill>
            <a:prstDash val="solid"/>
          </a:ln>
        </p:spPr>
      </p:sp>
      <p:pic>
        <p:nvPicPr>
          <p:cNvPr id="8" name="Image 0" descr="preencoded.png">    </p:cNvPr>
          <p:cNvPicPr>
            <a:picLocks noChangeAspect="1"/>
          </p:cNvPicPr>
          <p:nvPr/>
        </p:nvPicPr>
        <p:blipFill>
          <a:blip r:embed="rId1"/>
          <a:stretch>
            <a:fillRect/>
          </a:stretch>
        </p:blipFill>
        <p:spPr>
          <a:xfrm>
            <a:off x="1051560" y="3246120"/>
            <a:ext cx="502920" cy="502920"/>
          </a:xfrm>
          <a:prstGeom prst="rect">
            <a:avLst/>
          </a:prstGeom>
        </p:spPr>
      </p:pic>
      <p:sp>
        <p:nvSpPr>
          <p:cNvPr id="9" name="Text 6"/>
          <p:cNvSpPr/>
          <p:nvPr/>
        </p:nvSpPr>
        <p:spPr>
          <a:xfrm>
            <a:off x="1051560" y="3840480"/>
            <a:ext cx="44805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Text a photo, keep talking.</a:t>
            </a:r>
            <a:endParaRPr lang="en-US" sz="2200" dirty="0"/>
          </a:p>
        </p:txBody>
      </p:sp>
      <p:sp>
        <p:nvSpPr>
          <p:cNvPr id="10" name="Text 7"/>
          <p:cNvSpPr/>
          <p:nvPr/>
        </p:nvSpPr>
        <p:spPr>
          <a:xfrm>
            <a:off x="1051560" y="4480560"/>
            <a:ext cx="4480560" cy="1463040"/>
          </a:xfrm>
          <a:prstGeom prst="rect">
            <a:avLst/>
          </a:prstGeom>
          <a:noFill/>
          <a:ln/>
        </p:spPr>
        <p:txBody>
          <a:bodyPr wrap="square" lIns="0" tIns="0" rIns="0" bIns="0" rtlCol="0" anchor="ctr"/>
          <a:lstStyle/>
          <a:p>
            <a:pPr indent="0" marL="0">
              <a:lnSpc>
                <a:spcPct val="135000"/>
              </a:lnSpc>
              <a:buNone/>
            </a:pPr>
            <a:r>
              <a:rPr lang="en-US" sz="1400" dirty="0">
                <a:solidFill>
                  <a:srgbClr val="CBD5E1"/>
                </a:solidFill>
                <a:latin typeface="Calibri" pitchFamily="34" charset="0"/>
                <a:ea typeface="Calibri" pitchFamily="34" charset="-122"/>
                <a:cs typeface="Calibri" pitchFamily="34" charset="-120"/>
              </a:rPr>
              <a:t>On a voice call, Alex asks the caller to text a photo or short video to the same number. Vision model reviews in &lt;5s and Alex keeps guiding — without a beat.</a:t>
            </a:r>
            <a:endParaRPr lang="en-US" sz="1400" dirty="0"/>
          </a:p>
        </p:txBody>
      </p:sp>
      <p:sp>
        <p:nvSpPr>
          <p:cNvPr id="11" name="Shape 8"/>
          <p:cNvSpPr/>
          <p:nvPr/>
        </p:nvSpPr>
        <p:spPr>
          <a:xfrm>
            <a:off x="6309360" y="2834640"/>
            <a:ext cx="5303520" cy="3291840"/>
          </a:xfrm>
          <a:prstGeom prst="rect">
            <a:avLst/>
          </a:prstGeom>
          <a:solidFill>
            <a:srgbClr val="1E293B"/>
          </a:solidFill>
          <a:ln w="12700">
            <a:solidFill>
              <a:srgbClr val="334155"/>
            </a:solidFill>
            <a:prstDash val="solid"/>
          </a:ln>
        </p:spPr>
      </p:sp>
      <p:sp>
        <p:nvSpPr>
          <p:cNvPr id="12" name="Shape 9"/>
          <p:cNvSpPr/>
          <p:nvPr/>
        </p:nvSpPr>
        <p:spPr>
          <a:xfrm>
            <a:off x="6309360" y="2834640"/>
            <a:ext cx="73152" cy="3291840"/>
          </a:xfrm>
          <a:prstGeom prst="rect">
            <a:avLst/>
          </a:prstGeom>
          <a:solidFill>
            <a:srgbClr val="F59E0B"/>
          </a:solidFill>
          <a:ln w="12700">
            <a:solidFill>
              <a:srgbClr val="F59E0B"/>
            </a:solidFill>
            <a:prstDash val="solid"/>
          </a:ln>
        </p:spPr>
      </p:sp>
      <p:pic>
        <p:nvPicPr>
          <p:cNvPr id="13" name="Image 1" descr="preencoded.png">    </p:cNvPr>
          <p:cNvPicPr>
            <a:picLocks noChangeAspect="1"/>
          </p:cNvPicPr>
          <p:nvPr/>
        </p:nvPicPr>
        <p:blipFill>
          <a:blip r:embed="rId2"/>
          <a:stretch>
            <a:fillRect/>
          </a:stretch>
        </p:blipFill>
        <p:spPr>
          <a:xfrm>
            <a:off x="6720840" y="3246120"/>
            <a:ext cx="502920" cy="502920"/>
          </a:xfrm>
          <a:prstGeom prst="rect">
            <a:avLst/>
          </a:prstGeom>
        </p:spPr>
      </p:pic>
      <p:sp>
        <p:nvSpPr>
          <p:cNvPr id="14" name="Text 10"/>
          <p:cNvSpPr/>
          <p:nvPr/>
        </p:nvSpPr>
        <p:spPr>
          <a:xfrm>
            <a:off x="6720840" y="3840480"/>
            <a:ext cx="44805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Hop on live video.</a:t>
            </a:r>
            <a:endParaRPr lang="en-US" sz="2200" dirty="0"/>
          </a:p>
        </p:txBody>
      </p:sp>
      <p:sp>
        <p:nvSpPr>
          <p:cNvPr id="15" name="Text 11"/>
          <p:cNvSpPr/>
          <p:nvPr/>
        </p:nvSpPr>
        <p:spPr>
          <a:xfrm>
            <a:off x="6720840" y="4480560"/>
            <a:ext cx="4480560" cy="1463040"/>
          </a:xfrm>
          <a:prstGeom prst="rect">
            <a:avLst/>
          </a:prstGeom>
          <a:noFill/>
          <a:ln/>
        </p:spPr>
        <p:txBody>
          <a:bodyPr wrap="square" lIns="0" tIns="0" rIns="0" bIns="0" rtlCol="0" anchor="ctr"/>
          <a:lstStyle/>
          <a:p>
            <a:pPr indent="0" marL="0">
              <a:lnSpc>
                <a:spcPct val="135000"/>
              </a:lnSpc>
              <a:buNone/>
            </a:pPr>
            <a:r>
              <a:rPr lang="en-US" sz="1400" dirty="0">
                <a:solidFill>
                  <a:srgbClr val="CBD5E1"/>
                </a:solidFill>
                <a:latin typeface="Calibri" pitchFamily="34" charset="0"/>
                <a:ea typeface="Calibri" pitchFamily="34" charset="-122"/>
                <a:cs typeface="Calibri" pitchFamily="34" charset="-120"/>
              </a:rPr>
              <a:t>For harder situations, Alex joins a WebRTC call. Watches the camera or a shared screen. Highlights what she’s talking about and narrates the fix.</a:t>
            </a:r>
            <a:endParaRPr lang="en-US" sz="1400" dirty="0"/>
          </a:p>
        </p:txBody>
      </p:sp>
      <p:sp>
        <p:nvSpPr>
          <p:cNvPr id="16" name="Text 12"/>
          <p:cNvSpPr/>
          <p:nvPr/>
        </p:nvSpPr>
        <p:spPr>
          <a:xfrm>
            <a:off x="640080" y="6492240"/>
            <a:ext cx="45720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Ligato AI Vision</a:t>
            </a:r>
            <a:endParaRPr lang="en-US" sz="900" dirty="0"/>
          </a:p>
        </p:txBody>
      </p:sp>
      <p:sp>
        <p:nvSpPr>
          <p:cNvPr id="17" name="Text 13"/>
          <p:cNvSpPr/>
          <p:nvPr/>
        </p:nvSpPr>
        <p:spPr>
          <a:xfrm>
            <a:off x="11247120" y="6492240"/>
            <a:ext cx="27432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2563EB"/>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640080" y="868680"/>
            <a:ext cx="10607040" cy="1005840"/>
          </a:xfrm>
          <a:prstGeom prst="rect">
            <a:avLst/>
          </a:prstGeom>
          <a:noFill/>
          <a:ln/>
        </p:spPr>
        <p:txBody>
          <a:bodyPr wrap="square" lIns="0" tIns="0" rIns="0" bIns="0" rtlCol="0" anchor="t"/>
          <a:lstStyle/>
          <a:p>
            <a:pPr algn="l" indent="0" marL="0">
              <a:buNone/>
            </a:pPr>
            <a:r>
              <a:rPr lang="en-US" sz="4000" b="1" dirty="0">
                <a:solidFill>
                  <a:srgbClr val="0B1220"/>
                </a:solidFill>
                <a:latin typeface="Calibri" pitchFamily="34" charset="0"/>
                <a:ea typeface="Calibri" pitchFamily="34" charset="-122"/>
                <a:cs typeface="Calibri" pitchFamily="34" charset="-120"/>
              </a:rPr>
              <a:t>Photo to booked job in under two minutes.</a:t>
            </a:r>
            <a:endParaRPr lang="en-US" sz="4000" dirty="0"/>
          </a:p>
        </p:txBody>
      </p:sp>
      <p:sp>
        <p:nvSpPr>
          <p:cNvPr id="4" name="Shape 2"/>
          <p:cNvSpPr/>
          <p:nvPr/>
        </p:nvSpPr>
        <p:spPr>
          <a:xfrm>
            <a:off x="640080" y="2560320"/>
            <a:ext cx="2066544" cy="3200400"/>
          </a:xfrm>
          <a:prstGeom prst="rect">
            <a:avLst/>
          </a:prstGeom>
          <a:solidFill>
            <a:srgbClr val="FFFFFF"/>
          </a:solidFill>
          <a:ln w="12700">
            <a:solidFill>
              <a:srgbClr val="E2E8F0"/>
            </a:solidFill>
            <a:prstDash val="solid"/>
          </a:ln>
        </p:spPr>
      </p:sp>
      <p:sp>
        <p:nvSpPr>
          <p:cNvPr id="5" name="Shape 3"/>
          <p:cNvSpPr/>
          <p:nvPr/>
        </p:nvSpPr>
        <p:spPr>
          <a:xfrm>
            <a:off x="960120" y="2926080"/>
            <a:ext cx="502920" cy="502920"/>
          </a:xfrm>
          <a:prstGeom prst="roundRect">
            <a:avLst>
              <a:gd name="adj" fmla="val 14545"/>
            </a:avLst>
          </a:prstGeom>
          <a:solidFill>
            <a:srgbClr val="2563EB"/>
          </a:solidFill>
          <a:ln w="12700">
            <a:solidFill>
              <a:srgbClr val="2563EB"/>
            </a:solidFill>
            <a:prstDash val="solid"/>
          </a:ln>
        </p:spPr>
      </p:sp>
      <p:sp>
        <p:nvSpPr>
          <p:cNvPr id="6" name="Text 4"/>
          <p:cNvSpPr/>
          <p:nvPr/>
        </p:nvSpPr>
        <p:spPr>
          <a:xfrm>
            <a:off x="960120" y="2926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960120" y="3611880"/>
            <a:ext cx="1426464" cy="64008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Customer calls</a:t>
            </a:r>
            <a:endParaRPr lang="en-US" sz="1700" dirty="0"/>
          </a:p>
        </p:txBody>
      </p:sp>
      <p:sp>
        <p:nvSpPr>
          <p:cNvPr id="8" name="Text 6"/>
          <p:cNvSpPr/>
          <p:nvPr/>
        </p:nvSpPr>
        <p:spPr>
          <a:xfrm>
            <a:off x="960120" y="4343400"/>
            <a:ext cx="1426464" cy="1280160"/>
          </a:xfrm>
          <a:prstGeom prst="rect">
            <a:avLst/>
          </a:prstGeom>
          <a:noFill/>
          <a:ln/>
        </p:spPr>
        <p:txBody>
          <a:bodyPr wrap="square" lIns="0" tIns="0" rIns="0" bIns="0" rtlCol="0" anchor="ctr"/>
          <a:lstStyle/>
          <a:p>
            <a:pPr indent="0" marL="0">
              <a:lnSpc>
                <a:spcPct val="135000"/>
              </a:lnSpc>
              <a:buNone/>
            </a:pPr>
            <a:r>
              <a:rPr lang="en-US" sz="1200" dirty="0">
                <a:solidFill>
                  <a:srgbClr val="64748B"/>
                </a:solidFill>
                <a:latin typeface="Calibri" pitchFamily="34" charset="0"/>
                <a:ea typeface="Calibri" pitchFamily="34" charset="-122"/>
                <a:cs typeface="Calibri" pitchFamily="34" charset="-120"/>
              </a:rPr>
              <a:t>Alex answers the business number and starts the conversation.</a:t>
            </a:r>
            <a:endParaRPr lang="en-US" sz="1200" dirty="0"/>
          </a:p>
        </p:txBody>
      </p:sp>
      <p:sp>
        <p:nvSpPr>
          <p:cNvPr id="9" name="Shape 7"/>
          <p:cNvSpPr/>
          <p:nvPr/>
        </p:nvSpPr>
        <p:spPr>
          <a:xfrm>
            <a:off x="2843784" y="2560320"/>
            <a:ext cx="2066544" cy="3200400"/>
          </a:xfrm>
          <a:prstGeom prst="rect">
            <a:avLst/>
          </a:prstGeom>
          <a:solidFill>
            <a:srgbClr val="FFFFFF"/>
          </a:solidFill>
          <a:ln w="12700">
            <a:solidFill>
              <a:srgbClr val="E2E8F0"/>
            </a:solidFill>
            <a:prstDash val="solid"/>
          </a:ln>
        </p:spPr>
      </p:sp>
      <p:sp>
        <p:nvSpPr>
          <p:cNvPr id="10" name="Shape 8"/>
          <p:cNvSpPr/>
          <p:nvPr/>
        </p:nvSpPr>
        <p:spPr>
          <a:xfrm>
            <a:off x="3163824" y="2926080"/>
            <a:ext cx="502920" cy="502920"/>
          </a:xfrm>
          <a:prstGeom prst="roundRect">
            <a:avLst>
              <a:gd name="adj" fmla="val 14545"/>
            </a:avLst>
          </a:prstGeom>
          <a:solidFill>
            <a:srgbClr val="2563EB"/>
          </a:solidFill>
          <a:ln w="12700">
            <a:solidFill>
              <a:srgbClr val="2563EB"/>
            </a:solidFill>
            <a:prstDash val="solid"/>
          </a:ln>
        </p:spPr>
      </p:sp>
      <p:sp>
        <p:nvSpPr>
          <p:cNvPr id="11" name="Text 9"/>
          <p:cNvSpPr/>
          <p:nvPr/>
        </p:nvSpPr>
        <p:spPr>
          <a:xfrm>
            <a:off x="3163824" y="2926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3163824" y="3611880"/>
            <a:ext cx="1426464" cy="64008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Alex asks for a photo</a:t>
            </a:r>
            <a:endParaRPr lang="en-US" sz="1700" dirty="0"/>
          </a:p>
        </p:txBody>
      </p:sp>
      <p:sp>
        <p:nvSpPr>
          <p:cNvPr id="13" name="Text 11"/>
          <p:cNvSpPr/>
          <p:nvPr/>
        </p:nvSpPr>
        <p:spPr>
          <a:xfrm>
            <a:off x="3163824" y="4343400"/>
            <a:ext cx="1426464" cy="1280160"/>
          </a:xfrm>
          <a:prstGeom prst="rect">
            <a:avLst/>
          </a:prstGeom>
          <a:noFill/>
          <a:ln/>
        </p:spPr>
        <p:txBody>
          <a:bodyPr wrap="square" lIns="0" tIns="0" rIns="0" bIns="0" rtlCol="0" anchor="ctr"/>
          <a:lstStyle/>
          <a:p>
            <a:pPr indent="0" marL="0">
              <a:lnSpc>
                <a:spcPct val="135000"/>
              </a:lnSpc>
              <a:buNone/>
            </a:pPr>
            <a:r>
              <a:rPr lang="en-US" sz="1200" dirty="0">
                <a:solidFill>
                  <a:srgbClr val="64748B"/>
                </a:solidFill>
                <a:latin typeface="Calibri" pitchFamily="34" charset="0"/>
                <a:ea typeface="Calibri" pitchFamily="34" charset="-122"/>
                <a:cs typeface="Calibri" pitchFamily="34" charset="-120"/>
              </a:rPr>
              <a:t>Still on the call — 'text a photo to this same number.'</a:t>
            </a:r>
            <a:endParaRPr lang="en-US" sz="1200" dirty="0"/>
          </a:p>
        </p:txBody>
      </p:sp>
      <p:sp>
        <p:nvSpPr>
          <p:cNvPr id="14" name="Shape 12"/>
          <p:cNvSpPr/>
          <p:nvPr/>
        </p:nvSpPr>
        <p:spPr>
          <a:xfrm>
            <a:off x="5047488" y="2560320"/>
            <a:ext cx="2066544" cy="3200400"/>
          </a:xfrm>
          <a:prstGeom prst="rect">
            <a:avLst/>
          </a:prstGeom>
          <a:solidFill>
            <a:srgbClr val="FFFFFF"/>
          </a:solidFill>
          <a:ln w="12700">
            <a:solidFill>
              <a:srgbClr val="E2E8F0"/>
            </a:solidFill>
            <a:prstDash val="solid"/>
          </a:ln>
        </p:spPr>
      </p:sp>
      <p:sp>
        <p:nvSpPr>
          <p:cNvPr id="15" name="Shape 13"/>
          <p:cNvSpPr/>
          <p:nvPr/>
        </p:nvSpPr>
        <p:spPr>
          <a:xfrm>
            <a:off x="5367528" y="2926080"/>
            <a:ext cx="502920" cy="502920"/>
          </a:xfrm>
          <a:prstGeom prst="roundRect">
            <a:avLst>
              <a:gd name="adj" fmla="val 14545"/>
            </a:avLst>
          </a:prstGeom>
          <a:solidFill>
            <a:srgbClr val="2563EB"/>
          </a:solidFill>
          <a:ln w="12700">
            <a:solidFill>
              <a:srgbClr val="2563EB"/>
            </a:solidFill>
            <a:prstDash val="solid"/>
          </a:ln>
        </p:spPr>
      </p:sp>
      <p:sp>
        <p:nvSpPr>
          <p:cNvPr id="16" name="Text 14"/>
          <p:cNvSpPr/>
          <p:nvPr/>
        </p:nvSpPr>
        <p:spPr>
          <a:xfrm>
            <a:off x="5367528" y="2926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5367528" y="3611880"/>
            <a:ext cx="1426464" cy="64008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MMS delivers media</a:t>
            </a:r>
            <a:endParaRPr lang="en-US" sz="1700" dirty="0"/>
          </a:p>
        </p:txBody>
      </p:sp>
      <p:sp>
        <p:nvSpPr>
          <p:cNvPr id="18" name="Text 16"/>
          <p:cNvSpPr/>
          <p:nvPr/>
        </p:nvSpPr>
        <p:spPr>
          <a:xfrm>
            <a:off x="5367528" y="4343400"/>
            <a:ext cx="1426464" cy="1280160"/>
          </a:xfrm>
          <a:prstGeom prst="rect">
            <a:avLst/>
          </a:prstGeom>
          <a:noFill/>
          <a:ln/>
        </p:spPr>
        <p:txBody>
          <a:bodyPr wrap="square" lIns="0" tIns="0" rIns="0" bIns="0" rtlCol="0" anchor="ctr"/>
          <a:lstStyle/>
          <a:p>
            <a:pPr indent="0" marL="0">
              <a:lnSpc>
                <a:spcPct val="135000"/>
              </a:lnSpc>
              <a:buNone/>
            </a:pPr>
            <a:r>
              <a:rPr lang="en-US" sz="1200" dirty="0">
                <a:solidFill>
                  <a:srgbClr val="64748B"/>
                </a:solidFill>
                <a:latin typeface="Calibri" pitchFamily="34" charset="0"/>
                <a:ea typeface="Calibri" pitchFamily="34" charset="-122"/>
                <a:cs typeface="Calibri" pitchFamily="34" charset="-120"/>
              </a:rPr>
              <a:t>Customer snaps and sends. Instant one-line receipt.</a:t>
            </a:r>
            <a:endParaRPr lang="en-US" sz="1200" dirty="0"/>
          </a:p>
        </p:txBody>
      </p:sp>
      <p:sp>
        <p:nvSpPr>
          <p:cNvPr id="19" name="Shape 17"/>
          <p:cNvSpPr/>
          <p:nvPr/>
        </p:nvSpPr>
        <p:spPr>
          <a:xfrm>
            <a:off x="7251192" y="2560320"/>
            <a:ext cx="2066544" cy="3200400"/>
          </a:xfrm>
          <a:prstGeom prst="rect">
            <a:avLst/>
          </a:prstGeom>
          <a:solidFill>
            <a:srgbClr val="FFFFFF"/>
          </a:solidFill>
          <a:ln w="12700">
            <a:solidFill>
              <a:srgbClr val="E2E8F0"/>
            </a:solidFill>
            <a:prstDash val="solid"/>
          </a:ln>
        </p:spPr>
      </p:sp>
      <p:sp>
        <p:nvSpPr>
          <p:cNvPr id="20" name="Shape 18"/>
          <p:cNvSpPr/>
          <p:nvPr/>
        </p:nvSpPr>
        <p:spPr>
          <a:xfrm>
            <a:off x="7571232" y="2926080"/>
            <a:ext cx="502920" cy="502920"/>
          </a:xfrm>
          <a:prstGeom prst="roundRect">
            <a:avLst>
              <a:gd name="adj" fmla="val 14545"/>
            </a:avLst>
          </a:prstGeom>
          <a:solidFill>
            <a:srgbClr val="2563EB"/>
          </a:solidFill>
          <a:ln w="12700">
            <a:solidFill>
              <a:srgbClr val="2563EB"/>
            </a:solidFill>
            <a:prstDash val="solid"/>
          </a:ln>
        </p:spPr>
      </p:sp>
      <p:sp>
        <p:nvSpPr>
          <p:cNvPr id="21" name="Text 19"/>
          <p:cNvSpPr/>
          <p:nvPr/>
        </p:nvSpPr>
        <p:spPr>
          <a:xfrm>
            <a:off x="7571232" y="2926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7571232" y="3611880"/>
            <a:ext cx="1426464" cy="64008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Vision reads it</a:t>
            </a:r>
            <a:endParaRPr lang="en-US" sz="1700" dirty="0"/>
          </a:p>
        </p:txBody>
      </p:sp>
      <p:sp>
        <p:nvSpPr>
          <p:cNvPr id="23" name="Text 21"/>
          <p:cNvSpPr/>
          <p:nvPr/>
        </p:nvSpPr>
        <p:spPr>
          <a:xfrm>
            <a:off x="7571232" y="4343400"/>
            <a:ext cx="1426464" cy="1280160"/>
          </a:xfrm>
          <a:prstGeom prst="rect">
            <a:avLst/>
          </a:prstGeom>
          <a:noFill/>
          <a:ln/>
        </p:spPr>
        <p:txBody>
          <a:bodyPr wrap="square" lIns="0" tIns="0" rIns="0" bIns="0" rtlCol="0" anchor="ctr"/>
          <a:lstStyle/>
          <a:p>
            <a:pPr indent="0" marL="0">
              <a:lnSpc>
                <a:spcPct val="135000"/>
              </a:lnSpc>
              <a:buNone/>
            </a:pPr>
            <a:r>
              <a:rPr lang="en-US" sz="1200" dirty="0">
                <a:solidFill>
                  <a:srgbClr val="64748B"/>
                </a:solidFill>
                <a:latin typeface="Calibri" pitchFamily="34" charset="0"/>
                <a:ea typeface="Calibri" pitchFamily="34" charset="-122"/>
                <a:cs typeface="Calibri" pitchFamily="34" charset="-120"/>
              </a:rPr>
              <a:t>Claude Sonnet returns a structured diagnosis in under 5 seconds.</a:t>
            </a:r>
            <a:endParaRPr lang="en-US" sz="1200" dirty="0"/>
          </a:p>
        </p:txBody>
      </p:sp>
      <p:sp>
        <p:nvSpPr>
          <p:cNvPr id="24" name="Shape 22"/>
          <p:cNvSpPr/>
          <p:nvPr/>
        </p:nvSpPr>
        <p:spPr>
          <a:xfrm>
            <a:off x="9454896" y="2560320"/>
            <a:ext cx="2066544" cy="3200400"/>
          </a:xfrm>
          <a:prstGeom prst="rect">
            <a:avLst/>
          </a:prstGeom>
          <a:solidFill>
            <a:srgbClr val="FFFFFF"/>
          </a:solidFill>
          <a:ln w="12700">
            <a:solidFill>
              <a:srgbClr val="E2E8F0"/>
            </a:solidFill>
            <a:prstDash val="solid"/>
          </a:ln>
        </p:spPr>
      </p:sp>
      <p:sp>
        <p:nvSpPr>
          <p:cNvPr id="25" name="Shape 23"/>
          <p:cNvSpPr/>
          <p:nvPr/>
        </p:nvSpPr>
        <p:spPr>
          <a:xfrm>
            <a:off x="9774936" y="2926080"/>
            <a:ext cx="502920" cy="502920"/>
          </a:xfrm>
          <a:prstGeom prst="roundRect">
            <a:avLst>
              <a:gd name="adj" fmla="val 14545"/>
            </a:avLst>
          </a:prstGeom>
          <a:solidFill>
            <a:srgbClr val="2563EB"/>
          </a:solidFill>
          <a:ln w="12700">
            <a:solidFill>
              <a:srgbClr val="2563EB"/>
            </a:solidFill>
            <a:prstDash val="solid"/>
          </a:ln>
        </p:spPr>
      </p:sp>
      <p:sp>
        <p:nvSpPr>
          <p:cNvPr id="26" name="Text 24"/>
          <p:cNvSpPr/>
          <p:nvPr/>
        </p:nvSpPr>
        <p:spPr>
          <a:xfrm>
            <a:off x="9774936" y="2926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7" name="Text 25"/>
          <p:cNvSpPr/>
          <p:nvPr/>
        </p:nvSpPr>
        <p:spPr>
          <a:xfrm>
            <a:off x="9774936" y="3611880"/>
            <a:ext cx="1426464" cy="64008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Alex keeps guiding</a:t>
            </a:r>
            <a:endParaRPr lang="en-US" sz="1700" dirty="0"/>
          </a:p>
        </p:txBody>
      </p:sp>
      <p:sp>
        <p:nvSpPr>
          <p:cNvPr id="28" name="Text 26"/>
          <p:cNvSpPr/>
          <p:nvPr/>
        </p:nvSpPr>
        <p:spPr>
          <a:xfrm>
            <a:off x="9774936" y="4343400"/>
            <a:ext cx="1426464" cy="1280160"/>
          </a:xfrm>
          <a:prstGeom prst="rect">
            <a:avLst/>
          </a:prstGeom>
          <a:noFill/>
          <a:ln/>
        </p:spPr>
        <p:txBody>
          <a:bodyPr wrap="square" lIns="0" tIns="0" rIns="0" bIns="0" rtlCol="0" anchor="ctr"/>
          <a:lstStyle/>
          <a:p>
            <a:pPr indent="0" marL="0">
              <a:lnSpc>
                <a:spcPct val="135000"/>
              </a:lnSpc>
              <a:buNone/>
            </a:pPr>
            <a:r>
              <a:rPr lang="en-US" sz="1200" dirty="0">
                <a:solidFill>
                  <a:srgbClr val="64748B"/>
                </a:solidFill>
                <a:latin typeface="Calibri" pitchFamily="34" charset="0"/>
                <a:ea typeface="Calibri" pitchFamily="34" charset="-122"/>
                <a:cs typeface="Calibri" pitchFamily="34" charset="-120"/>
              </a:rPr>
              <a:t>Voice picks right back up: 'okay, I can see it — let’s stop the water.'</a:t>
            </a:r>
            <a:endParaRPr lang="en-US" sz="1200" dirty="0"/>
          </a:p>
        </p:txBody>
      </p:sp>
      <p:sp>
        <p:nvSpPr>
          <p:cNvPr id="29" name="Text 27"/>
          <p:cNvSpPr/>
          <p:nvPr/>
        </p:nvSpPr>
        <p:spPr>
          <a:xfrm>
            <a:off x="640080" y="6492240"/>
            <a:ext cx="4572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Ligato AI Vision</a:t>
            </a:r>
            <a:endParaRPr lang="en-US" sz="900" dirty="0"/>
          </a:p>
        </p:txBody>
      </p:sp>
      <p:sp>
        <p:nvSpPr>
          <p:cNvPr id="30" name="Text 28"/>
          <p:cNvSpPr/>
          <p:nvPr/>
        </p:nvSpPr>
        <p:spPr>
          <a:xfrm>
            <a:off x="11247120" y="6492240"/>
            <a:ext cx="2743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2563EB"/>
                </a:solidFill>
                <a:latin typeface="Calibri" pitchFamily="34" charset="0"/>
                <a:ea typeface="Calibri" pitchFamily="34" charset="-122"/>
                <a:cs typeface="Calibri" pitchFamily="34" charset="-120"/>
              </a:rPr>
              <a:t>WHAT THE CALL SOUNDS LIKE</a:t>
            </a:r>
            <a:endParaRPr lang="en-US" sz="1100" dirty="0"/>
          </a:p>
        </p:txBody>
      </p:sp>
      <p:sp>
        <p:nvSpPr>
          <p:cNvPr id="3" name="Text 1"/>
          <p:cNvSpPr/>
          <p:nvPr/>
        </p:nvSpPr>
        <p:spPr>
          <a:xfrm>
            <a:off x="640080" y="868680"/>
            <a:ext cx="10607040" cy="1005840"/>
          </a:xfrm>
          <a:prstGeom prst="rect">
            <a:avLst/>
          </a:prstGeom>
          <a:noFill/>
          <a:ln/>
        </p:spPr>
        <p:txBody>
          <a:bodyPr wrap="square" lIns="0" tIns="0" rIns="0" bIns="0" rtlCol="0" anchor="t"/>
          <a:lstStyle/>
          <a:p>
            <a:pPr algn="l" indent="0" marL="0">
              <a:buNone/>
            </a:pPr>
            <a:r>
              <a:rPr lang="en-US" sz="4000" b="1" dirty="0">
                <a:solidFill>
                  <a:srgbClr val="0B1220"/>
                </a:solidFill>
                <a:latin typeface="Calibri" pitchFamily="34" charset="0"/>
                <a:ea typeface="Calibri" pitchFamily="34" charset="-122"/>
                <a:cs typeface="Calibri" pitchFamily="34" charset="-120"/>
              </a:rPr>
              <a:t>A 2-minute emergency, guided.</a:t>
            </a:r>
            <a:endParaRPr lang="en-US" sz="4000" dirty="0"/>
          </a:p>
        </p:txBody>
      </p:sp>
      <p:sp>
        <p:nvSpPr>
          <p:cNvPr id="4" name="Text 2"/>
          <p:cNvSpPr/>
          <p:nvPr/>
        </p:nvSpPr>
        <p:spPr>
          <a:xfrm>
            <a:off x="640080" y="2011680"/>
            <a:ext cx="5120640" cy="365760"/>
          </a:xfrm>
          <a:prstGeom prst="rect">
            <a:avLst/>
          </a:prstGeom>
          <a:noFill/>
          <a:ln/>
        </p:spPr>
        <p:txBody>
          <a:bodyPr wrap="square" lIns="0" tIns="0" rIns="0" bIns="0" rtlCol="0" anchor="ctr"/>
          <a:lstStyle/>
          <a:p>
            <a:pPr indent="0" marL="0">
              <a:buNone/>
            </a:pPr>
            <a:r>
              <a:rPr lang="en-US" sz="1200" b="1" spc="600" kern="0" dirty="0">
                <a:solidFill>
                  <a:srgbClr val="2563EB"/>
                </a:solidFill>
                <a:latin typeface="Calibri" pitchFamily="34" charset="0"/>
                <a:ea typeface="Calibri" pitchFamily="34" charset="-122"/>
                <a:cs typeface="Calibri" pitchFamily="34" charset="-120"/>
              </a:rPr>
              <a:t>VOICE</a:t>
            </a:r>
            <a:endParaRPr lang="en-US" sz="1200" dirty="0"/>
          </a:p>
        </p:txBody>
      </p:sp>
      <p:sp>
        <p:nvSpPr>
          <p:cNvPr id="5" name="Text 3"/>
          <p:cNvSpPr/>
          <p:nvPr/>
        </p:nvSpPr>
        <p:spPr>
          <a:xfrm>
            <a:off x="6400800" y="2011680"/>
            <a:ext cx="5120640" cy="365760"/>
          </a:xfrm>
          <a:prstGeom prst="rect">
            <a:avLst/>
          </a:prstGeom>
          <a:noFill/>
          <a:ln/>
        </p:spPr>
        <p:txBody>
          <a:bodyPr wrap="square" lIns="0" tIns="0" rIns="0" bIns="0" rtlCol="0" anchor="ctr"/>
          <a:lstStyle/>
          <a:p>
            <a:pPr indent="0" marL="0">
              <a:buNone/>
            </a:pPr>
            <a:r>
              <a:rPr lang="en-US" sz="1200" b="1" spc="600" kern="0" dirty="0">
                <a:solidFill>
                  <a:srgbClr val="F59E0B"/>
                </a:solidFill>
                <a:latin typeface="Calibri" pitchFamily="34" charset="0"/>
                <a:ea typeface="Calibri" pitchFamily="34" charset="-122"/>
                <a:cs typeface="Calibri" pitchFamily="34" charset="-120"/>
              </a:rPr>
              <a:t>MMS</a:t>
            </a:r>
            <a:endParaRPr lang="en-US" sz="1200" dirty="0"/>
          </a:p>
        </p:txBody>
      </p:sp>
      <p:sp>
        <p:nvSpPr>
          <p:cNvPr id="6" name="Shape 4"/>
          <p:cNvSpPr/>
          <p:nvPr/>
        </p:nvSpPr>
        <p:spPr>
          <a:xfrm>
            <a:off x="640080" y="2468880"/>
            <a:ext cx="5120640" cy="566928"/>
          </a:xfrm>
          <a:prstGeom prst="rect">
            <a:avLst/>
          </a:prstGeom>
          <a:solidFill>
            <a:srgbClr val="EFF6FF"/>
          </a:solidFill>
          <a:ln/>
        </p:spPr>
      </p:sp>
      <p:sp>
        <p:nvSpPr>
          <p:cNvPr id="7" name="Shape 5"/>
          <p:cNvSpPr/>
          <p:nvPr/>
        </p:nvSpPr>
        <p:spPr>
          <a:xfrm>
            <a:off x="640080" y="2468880"/>
            <a:ext cx="54864" cy="566928"/>
          </a:xfrm>
          <a:prstGeom prst="rect">
            <a:avLst/>
          </a:prstGeom>
          <a:solidFill>
            <a:srgbClr val="2563EB"/>
          </a:solidFill>
          <a:ln/>
        </p:spPr>
      </p:sp>
      <p:sp>
        <p:nvSpPr>
          <p:cNvPr id="8" name="Text 6"/>
          <p:cNvSpPr/>
          <p:nvPr/>
        </p:nvSpPr>
        <p:spPr>
          <a:xfrm>
            <a:off x="822960" y="2505456"/>
            <a:ext cx="914400" cy="201168"/>
          </a:xfrm>
          <a:prstGeom prst="rect">
            <a:avLst/>
          </a:prstGeom>
          <a:noFill/>
          <a:ln/>
        </p:spPr>
        <p:txBody>
          <a:bodyPr wrap="square" lIns="0" tIns="0" rIns="0" bIns="0" rtlCol="0" anchor="ctr"/>
          <a:lstStyle/>
          <a:p>
            <a:pPr indent="0" marL="0">
              <a:buNone/>
            </a:pPr>
            <a:r>
              <a:rPr lang="en-US" sz="900" b="1" spc="300" kern="0" dirty="0">
                <a:solidFill>
                  <a:srgbClr val="2563EB"/>
                </a:solidFill>
                <a:latin typeface="Calibri" pitchFamily="34" charset="0"/>
                <a:ea typeface="Calibri" pitchFamily="34" charset="-122"/>
                <a:cs typeface="Calibri" pitchFamily="34" charset="-120"/>
              </a:rPr>
              <a:t>Alex</a:t>
            </a:r>
            <a:endParaRPr lang="en-US" sz="900" dirty="0"/>
          </a:p>
        </p:txBody>
      </p:sp>
      <p:sp>
        <p:nvSpPr>
          <p:cNvPr id="9" name="Text 7"/>
          <p:cNvSpPr/>
          <p:nvPr/>
        </p:nvSpPr>
        <p:spPr>
          <a:xfrm>
            <a:off x="822960" y="2670048"/>
            <a:ext cx="4846320" cy="329184"/>
          </a:xfrm>
          <a:prstGeom prst="rect">
            <a:avLst/>
          </a:prstGeom>
          <a:noFill/>
          <a:ln/>
        </p:spPr>
        <p:txBody>
          <a:bodyPr wrap="square" lIns="0" tIns="0" rIns="0" bIns="0" rtlCol="0" anchor="ctr"/>
          <a:lstStyle/>
          <a:p>
            <a:pPr indent="0" marL="0">
              <a:buNone/>
            </a:pPr>
            <a:r>
              <a:rPr lang="en-US" sz="1100" dirty="0">
                <a:solidFill>
                  <a:srgbClr val="0B1220"/>
                </a:solidFill>
                <a:latin typeface="Calibri" pitchFamily="34" charset="0"/>
                <a:ea typeface="Calibri" pitchFamily="34" charset="-122"/>
                <a:cs typeface="Calibri" pitchFamily="34" charset="-120"/>
              </a:rPr>
              <a:t>Hi, you’ve reached Summit Plumbing. This is Alex, an AI assistant. What’s going on?</a:t>
            </a:r>
            <a:endParaRPr lang="en-US" sz="1100" dirty="0"/>
          </a:p>
        </p:txBody>
      </p:sp>
      <p:sp>
        <p:nvSpPr>
          <p:cNvPr id="10" name="Shape 8"/>
          <p:cNvSpPr/>
          <p:nvPr/>
        </p:nvSpPr>
        <p:spPr>
          <a:xfrm>
            <a:off x="640080" y="3081528"/>
            <a:ext cx="5120640" cy="566928"/>
          </a:xfrm>
          <a:prstGeom prst="rect">
            <a:avLst/>
          </a:prstGeom>
          <a:solidFill>
            <a:srgbClr val="FEF3C7"/>
          </a:solidFill>
          <a:ln/>
        </p:spPr>
      </p:sp>
      <p:sp>
        <p:nvSpPr>
          <p:cNvPr id="11" name="Shape 9"/>
          <p:cNvSpPr/>
          <p:nvPr/>
        </p:nvSpPr>
        <p:spPr>
          <a:xfrm>
            <a:off x="640080" y="3081528"/>
            <a:ext cx="54864" cy="566928"/>
          </a:xfrm>
          <a:prstGeom prst="rect">
            <a:avLst/>
          </a:prstGeom>
          <a:solidFill>
            <a:srgbClr val="F59E0B"/>
          </a:solidFill>
          <a:ln/>
        </p:spPr>
      </p:sp>
      <p:sp>
        <p:nvSpPr>
          <p:cNvPr id="12" name="Text 10"/>
          <p:cNvSpPr/>
          <p:nvPr/>
        </p:nvSpPr>
        <p:spPr>
          <a:xfrm>
            <a:off x="822960" y="3118104"/>
            <a:ext cx="914400" cy="201168"/>
          </a:xfrm>
          <a:prstGeom prst="rect">
            <a:avLst/>
          </a:prstGeom>
          <a:noFill/>
          <a:ln/>
        </p:spPr>
        <p:txBody>
          <a:bodyPr wrap="square" lIns="0" tIns="0" rIns="0" bIns="0" rtlCol="0" anchor="ctr"/>
          <a:lstStyle/>
          <a:p>
            <a:pPr indent="0" marL="0">
              <a:buNone/>
            </a:pPr>
            <a:r>
              <a:rPr lang="en-US" sz="900" b="1" spc="300" kern="0" dirty="0">
                <a:solidFill>
                  <a:srgbClr val="F59E0B"/>
                </a:solidFill>
                <a:latin typeface="Calibri" pitchFamily="34" charset="0"/>
                <a:ea typeface="Calibri" pitchFamily="34" charset="-122"/>
                <a:cs typeface="Calibri" pitchFamily="34" charset="-120"/>
              </a:rPr>
              <a:t>Caller</a:t>
            </a:r>
            <a:endParaRPr lang="en-US" sz="900" dirty="0"/>
          </a:p>
        </p:txBody>
      </p:sp>
      <p:sp>
        <p:nvSpPr>
          <p:cNvPr id="13" name="Text 11"/>
          <p:cNvSpPr/>
          <p:nvPr/>
        </p:nvSpPr>
        <p:spPr>
          <a:xfrm>
            <a:off x="822960" y="3282696"/>
            <a:ext cx="4846320" cy="329184"/>
          </a:xfrm>
          <a:prstGeom prst="rect">
            <a:avLst/>
          </a:prstGeom>
          <a:noFill/>
          <a:ln/>
        </p:spPr>
        <p:txBody>
          <a:bodyPr wrap="square" lIns="0" tIns="0" rIns="0" bIns="0" rtlCol="0" anchor="ctr"/>
          <a:lstStyle/>
          <a:p>
            <a:pPr indent="0" marL="0">
              <a:buNone/>
            </a:pPr>
            <a:r>
              <a:rPr lang="en-US" sz="1100" dirty="0">
                <a:solidFill>
                  <a:srgbClr val="0B1220"/>
                </a:solidFill>
                <a:latin typeface="Calibri" pitchFamily="34" charset="0"/>
                <a:ea typeface="Calibri" pitchFamily="34" charset="-122"/>
                <a:cs typeface="Calibri" pitchFamily="34" charset="-120"/>
              </a:rPr>
              <a:t>My kitchen faucet is leaking bad under the sink.</a:t>
            </a:r>
            <a:endParaRPr lang="en-US" sz="1100" dirty="0"/>
          </a:p>
        </p:txBody>
      </p:sp>
      <p:sp>
        <p:nvSpPr>
          <p:cNvPr id="14" name="Shape 12"/>
          <p:cNvSpPr/>
          <p:nvPr/>
        </p:nvSpPr>
        <p:spPr>
          <a:xfrm>
            <a:off x="640080" y="3694176"/>
            <a:ext cx="5120640" cy="566928"/>
          </a:xfrm>
          <a:prstGeom prst="rect">
            <a:avLst/>
          </a:prstGeom>
          <a:solidFill>
            <a:srgbClr val="EFF6FF"/>
          </a:solidFill>
          <a:ln/>
        </p:spPr>
      </p:sp>
      <p:sp>
        <p:nvSpPr>
          <p:cNvPr id="15" name="Shape 13"/>
          <p:cNvSpPr/>
          <p:nvPr/>
        </p:nvSpPr>
        <p:spPr>
          <a:xfrm>
            <a:off x="640080" y="3694176"/>
            <a:ext cx="54864" cy="566928"/>
          </a:xfrm>
          <a:prstGeom prst="rect">
            <a:avLst/>
          </a:prstGeom>
          <a:solidFill>
            <a:srgbClr val="2563EB"/>
          </a:solidFill>
          <a:ln/>
        </p:spPr>
      </p:sp>
      <p:sp>
        <p:nvSpPr>
          <p:cNvPr id="16" name="Text 14"/>
          <p:cNvSpPr/>
          <p:nvPr/>
        </p:nvSpPr>
        <p:spPr>
          <a:xfrm>
            <a:off x="822960" y="3730752"/>
            <a:ext cx="914400" cy="201168"/>
          </a:xfrm>
          <a:prstGeom prst="rect">
            <a:avLst/>
          </a:prstGeom>
          <a:noFill/>
          <a:ln/>
        </p:spPr>
        <p:txBody>
          <a:bodyPr wrap="square" lIns="0" tIns="0" rIns="0" bIns="0" rtlCol="0" anchor="ctr"/>
          <a:lstStyle/>
          <a:p>
            <a:pPr indent="0" marL="0">
              <a:buNone/>
            </a:pPr>
            <a:r>
              <a:rPr lang="en-US" sz="900" b="1" spc="300" kern="0" dirty="0">
                <a:solidFill>
                  <a:srgbClr val="2563EB"/>
                </a:solidFill>
                <a:latin typeface="Calibri" pitchFamily="34" charset="0"/>
                <a:ea typeface="Calibri" pitchFamily="34" charset="-122"/>
                <a:cs typeface="Calibri" pitchFamily="34" charset="-120"/>
              </a:rPr>
              <a:t>Alex</a:t>
            </a:r>
            <a:endParaRPr lang="en-US" sz="900" dirty="0"/>
          </a:p>
        </p:txBody>
      </p:sp>
      <p:sp>
        <p:nvSpPr>
          <p:cNvPr id="17" name="Text 15"/>
          <p:cNvSpPr/>
          <p:nvPr/>
        </p:nvSpPr>
        <p:spPr>
          <a:xfrm>
            <a:off x="822960" y="3895344"/>
            <a:ext cx="4846320" cy="329184"/>
          </a:xfrm>
          <a:prstGeom prst="rect">
            <a:avLst/>
          </a:prstGeom>
          <a:noFill/>
          <a:ln/>
        </p:spPr>
        <p:txBody>
          <a:bodyPr wrap="square" lIns="0" tIns="0" rIns="0" bIns="0" rtlCol="0" anchor="ctr"/>
          <a:lstStyle/>
          <a:p>
            <a:pPr indent="0" marL="0">
              <a:buNone/>
            </a:pPr>
            <a:r>
              <a:rPr lang="en-US" sz="1100" dirty="0">
                <a:solidFill>
                  <a:srgbClr val="0B1220"/>
                </a:solidFill>
                <a:latin typeface="Calibri" pitchFamily="34" charset="0"/>
                <a:ea typeface="Calibri" pitchFamily="34" charset="-122"/>
                <a:cs typeface="Calibri" pitchFamily="34" charset="-120"/>
              </a:rPr>
              <a:t>Okay — grab a quick photo and text it to this same number. I’ll take a look while we talk.</a:t>
            </a:r>
            <a:endParaRPr lang="en-US" sz="1100" dirty="0"/>
          </a:p>
        </p:txBody>
      </p:sp>
      <p:sp>
        <p:nvSpPr>
          <p:cNvPr id="18" name="Shape 16"/>
          <p:cNvSpPr/>
          <p:nvPr/>
        </p:nvSpPr>
        <p:spPr>
          <a:xfrm>
            <a:off x="640080" y="4306824"/>
            <a:ext cx="5120640" cy="566928"/>
          </a:xfrm>
          <a:prstGeom prst="rect">
            <a:avLst/>
          </a:prstGeom>
          <a:solidFill>
            <a:srgbClr val="EFF6FF"/>
          </a:solidFill>
          <a:ln/>
        </p:spPr>
      </p:sp>
      <p:sp>
        <p:nvSpPr>
          <p:cNvPr id="19" name="Shape 17"/>
          <p:cNvSpPr/>
          <p:nvPr/>
        </p:nvSpPr>
        <p:spPr>
          <a:xfrm>
            <a:off x="640080" y="4306824"/>
            <a:ext cx="54864" cy="566928"/>
          </a:xfrm>
          <a:prstGeom prst="rect">
            <a:avLst/>
          </a:prstGeom>
          <a:solidFill>
            <a:srgbClr val="2563EB"/>
          </a:solidFill>
          <a:ln/>
        </p:spPr>
      </p:sp>
      <p:sp>
        <p:nvSpPr>
          <p:cNvPr id="20" name="Text 18"/>
          <p:cNvSpPr/>
          <p:nvPr/>
        </p:nvSpPr>
        <p:spPr>
          <a:xfrm>
            <a:off x="822960" y="4343400"/>
            <a:ext cx="914400" cy="201168"/>
          </a:xfrm>
          <a:prstGeom prst="rect">
            <a:avLst/>
          </a:prstGeom>
          <a:noFill/>
          <a:ln/>
        </p:spPr>
        <p:txBody>
          <a:bodyPr wrap="square" lIns="0" tIns="0" rIns="0" bIns="0" rtlCol="0" anchor="ctr"/>
          <a:lstStyle/>
          <a:p>
            <a:pPr indent="0" marL="0">
              <a:buNone/>
            </a:pPr>
            <a:r>
              <a:rPr lang="en-US" sz="900" b="1" spc="300" kern="0" dirty="0">
                <a:solidFill>
                  <a:srgbClr val="2563EB"/>
                </a:solidFill>
                <a:latin typeface="Calibri" pitchFamily="34" charset="0"/>
                <a:ea typeface="Calibri" pitchFamily="34" charset="-122"/>
                <a:cs typeface="Calibri" pitchFamily="34" charset="-120"/>
              </a:rPr>
              <a:t>Alex</a:t>
            </a:r>
            <a:endParaRPr lang="en-US" sz="900" dirty="0"/>
          </a:p>
        </p:txBody>
      </p:sp>
      <p:sp>
        <p:nvSpPr>
          <p:cNvPr id="21" name="Text 19"/>
          <p:cNvSpPr/>
          <p:nvPr/>
        </p:nvSpPr>
        <p:spPr>
          <a:xfrm>
            <a:off x="822960" y="4507992"/>
            <a:ext cx="4846320" cy="329184"/>
          </a:xfrm>
          <a:prstGeom prst="rect">
            <a:avLst/>
          </a:prstGeom>
          <a:noFill/>
          <a:ln/>
        </p:spPr>
        <p:txBody>
          <a:bodyPr wrap="square" lIns="0" tIns="0" rIns="0" bIns="0" rtlCol="0" anchor="ctr"/>
          <a:lstStyle/>
          <a:p>
            <a:pPr indent="0" marL="0">
              <a:buNone/>
            </a:pPr>
            <a:r>
              <a:rPr lang="en-US" sz="1100" dirty="0">
                <a:solidFill>
                  <a:srgbClr val="0B1220"/>
                </a:solidFill>
                <a:latin typeface="Calibri" pitchFamily="34" charset="0"/>
                <a:ea typeface="Calibri" pitchFamily="34" charset="-122"/>
                <a:cs typeface="Calibri" pitchFamily="34" charset="-120"/>
              </a:rPr>
              <a:t>Okay, I can see it. Hot-water supply line leaking. Do you know where your main shut-off is?</a:t>
            </a:r>
            <a:endParaRPr lang="en-US" sz="1100" dirty="0"/>
          </a:p>
        </p:txBody>
      </p:sp>
      <p:sp>
        <p:nvSpPr>
          <p:cNvPr id="22" name="Shape 20"/>
          <p:cNvSpPr/>
          <p:nvPr/>
        </p:nvSpPr>
        <p:spPr>
          <a:xfrm>
            <a:off x="640080" y="4919472"/>
            <a:ext cx="5120640" cy="566928"/>
          </a:xfrm>
          <a:prstGeom prst="rect">
            <a:avLst/>
          </a:prstGeom>
          <a:solidFill>
            <a:srgbClr val="EFF6FF"/>
          </a:solidFill>
          <a:ln/>
        </p:spPr>
      </p:sp>
      <p:sp>
        <p:nvSpPr>
          <p:cNvPr id="23" name="Shape 21"/>
          <p:cNvSpPr/>
          <p:nvPr/>
        </p:nvSpPr>
        <p:spPr>
          <a:xfrm>
            <a:off x="640080" y="4919472"/>
            <a:ext cx="54864" cy="566928"/>
          </a:xfrm>
          <a:prstGeom prst="rect">
            <a:avLst/>
          </a:prstGeom>
          <a:solidFill>
            <a:srgbClr val="2563EB"/>
          </a:solidFill>
          <a:ln/>
        </p:spPr>
      </p:sp>
      <p:sp>
        <p:nvSpPr>
          <p:cNvPr id="24" name="Text 22"/>
          <p:cNvSpPr/>
          <p:nvPr/>
        </p:nvSpPr>
        <p:spPr>
          <a:xfrm>
            <a:off x="822960" y="4956048"/>
            <a:ext cx="914400" cy="201168"/>
          </a:xfrm>
          <a:prstGeom prst="rect">
            <a:avLst/>
          </a:prstGeom>
          <a:noFill/>
          <a:ln/>
        </p:spPr>
        <p:txBody>
          <a:bodyPr wrap="square" lIns="0" tIns="0" rIns="0" bIns="0" rtlCol="0" anchor="ctr"/>
          <a:lstStyle/>
          <a:p>
            <a:pPr indent="0" marL="0">
              <a:buNone/>
            </a:pPr>
            <a:r>
              <a:rPr lang="en-US" sz="900" b="1" spc="300" kern="0" dirty="0">
                <a:solidFill>
                  <a:srgbClr val="2563EB"/>
                </a:solidFill>
                <a:latin typeface="Calibri" pitchFamily="34" charset="0"/>
                <a:ea typeface="Calibri" pitchFamily="34" charset="-122"/>
                <a:cs typeface="Calibri" pitchFamily="34" charset="-120"/>
              </a:rPr>
              <a:t>Alex</a:t>
            </a:r>
            <a:endParaRPr lang="en-US" sz="900" dirty="0"/>
          </a:p>
        </p:txBody>
      </p:sp>
      <p:sp>
        <p:nvSpPr>
          <p:cNvPr id="25" name="Text 23"/>
          <p:cNvSpPr/>
          <p:nvPr/>
        </p:nvSpPr>
        <p:spPr>
          <a:xfrm>
            <a:off x="822960" y="5120640"/>
            <a:ext cx="4846320" cy="329184"/>
          </a:xfrm>
          <a:prstGeom prst="rect">
            <a:avLst/>
          </a:prstGeom>
          <a:noFill/>
          <a:ln/>
        </p:spPr>
        <p:txBody>
          <a:bodyPr wrap="square" lIns="0" tIns="0" rIns="0" bIns="0" rtlCol="0" anchor="ctr"/>
          <a:lstStyle/>
          <a:p>
            <a:pPr indent="0" marL="0">
              <a:buNone/>
            </a:pPr>
            <a:r>
              <a:rPr lang="en-US" sz="1100" dirty="0">
                <a:solidFill>
                  <a:srgbClr val="0B1220"/>
                </a:solidFill>
                <a:latin typeface="Calibri" pitchFamily="34" charset="0"/>
                <a:ea typeface="Calibri" pitchFamily="34" charset="-122"/>
                <a:cs typeface="Calibri" pitchFamily="34" charset="-120"/>
              </a:rPr>
              <a:t>Yes — that’s your main shut-off. Is anything running right now? Dishwasher, washer?</a:t>
            </a:r>
            <a:endParaRPr lang="en-US" sz="1100" dirty="0"/>
          </a:p>
        </p:txBody>
      </p:sp>
      <p:sp>
        <p:nvSpPr>
          <p:cNvPr id="26" name="Shape 24"/>
          <p:cNvSpPr/>
          <p:nvPr/>
        </p:nvSpPr>
        <p:spPr>
          <a:xfrm>
            <a:off x="640080" y="5532120"/>
            <a:ext cx="5120640" cy="566928"/>
          </a:xfrm>
          <a:prstGeom prst="rect">
            <a:avLst/>
          </a:prstGeom>
          <a:solidFill>
            <a:srgbClr val="EFF6FF"/>
          </a:solidFill>
          <a:ln/>
        </p:spPr>
      </p:sp>
      <p:sp>
        <p:nvSpPr>
          <p:cNvPr id="27" name="Shape 25"/>
          <p:cNvSpPr/>
          <p:nvPr/>
        </p:nvSpPr>
        <p:spPr>
          <a:xfrm>
            <a:off x="640080" y="5532120"/>
            <a:ext cx="54864" cy="566928"/>
          </a:xfrm>
          <a:prstGeom prst="rect">
            <a:avLst/>
          </a:prstGeom>
          <a:solidFill>
            <a:srgbClr val="2563EB"/>
          </a:solidFill>
          <a:ln/>
        </p:spPr>
      </p:sp>
      <p:sp>
        <p:nvSpPr>
          <p:cNvPr id="28" name="Text 26"/>
          <p:cNvSpPr/>
          <p:nvPr/>
        </p:nvSpPr>
        <p:spPr>
          <a:xfrm>
            <a:off x="822960" y="5568696"/>
            <a:ext cx="914400" cy="201168"/>
          </a:xfrm>
          <a:prstGeom prst="rect">
            <a:avLst/>
          </a:prstGeom>
          <a:noFill/>
          <a:ln/>
        </p:spPr>
        <p:txBody>
          <a:bodyPr wrap="square" lIns="0" tIns="0" rIns="0" bIns="0" rtlCol="0" anchor="ctr"/>
          <a:lstStyle/>
          <a:p>
            <a:pPr indent="0" marL="0">
              <a:buNone/>
            </a:pPr>
            <a:r>
              <a:rPr lang="en-US" sz="900" b="1" spc="300" kern="0" dirty="0">
                <a:solidFill>
                  <a:srgbClr val="2563EB"/>
                </a:solidFill>
                <a:latin typeface="Calibri" pitchFamily="34" charset="0"/>
                <a:ea typeface="Calibri" pitchFamily="34" charset="-122"/>
                <a:cs typeface="Calibri" pitchFamily="34" charset="-120"/>
              </a:rPr>
              <a:t>Alex</a:t>
            </a:r>
            <a:endParaRPr lang="en-US" sz="900" dirty="0"/>
          </a:p>
        </p:txBody>
      </p:sp>
      <p:sp>
        <p:nvSpPr>
          <p:cNvPr id="29" name="Text 27"/>
          <p:cNvSpPr/>
          <p:nvPr/>
        </p:nvSpPr>
        <p:spPr>
          <a:xfrm>
            <a:off x="822960" y="5733288"/>
            <a:ext cx="4846320" cy="329184"/>
          </a:xfrm>
          <a:prstGeom prst="rect">
            <a:avLst/>
          </a:prstGeom>
          <a:noFill/>
          <a:ln/>
        </p:spPr>
        <p:txBody>
          <a:bodyPr wrap="square" lIns="0" tIns="0" rIns="0" bIns="0" rtlCol="0" anchor="ctr"/>
          <a:lstStyle/>
          <a:p>
            <a:pPr indent="0" marL="0">
              <a:buNone/>
            </a:pPr>
            <a:r>
              <a:rPr lang="en-US" sz="1100" dirty="0">
                <a:solidFill>
                  <a:srgbClr val="0B1220"/>
                </a:solidFill>
                <a:latin typeface="Calibri" pitchFamily="34" charset="0"/>
                <a:ea typeface="Calibri" pitchFamily="34" charset="-122"/>
                <a:cs typeface="Calibri" pitchFamily="34" charset="-120"/>
              </a:rPr>
              <a:t>Perfect. Quarter turn to the right until it stops.</a:t>
            </a:r>
            <a:endParaRPr lang="en-US" sz="1100" dirty="0"/>
          </a:p>
        </p:txBody>
      </p:sp>
      <p:sp>
        <p:nvSpPr>
          <p:cNvPr id="30" name="Shape 28"/>
          <p:cNvSpPr/>
          <p:nvPr/>
        </p:nvSpPr>
        <p:spPr>
          <a:xfrm>
            <a:off x="6400800" y="2468880"/>
            <a:ext cx="3840480" cy="548640"/>
          </a:xfrm>
          <a:prstGeom prst="rect">
            <a:avLst/>
          </a:prstGeom>
          <a:solidFill>
            <a:srgbClr val="F1F5F9"/>
          </a:solidFill>
          <a:ln w="9525">
            <a:solidFill>
              <a:srgbClr val="E2E8F0"/>
            </a:solidFill>
            <a:prstDash val="solid"/>
          </a:ln>
        </p:spPr>
      </p:sp>
      <p:sp>
        <p:nvSpPr>
          <p:cNvPr id="31" name="Text 29"/>
          <p:cNvSpPr/>
          <p:nvPr/>
        </p:nvSpPr>
        <p:spPr>
          <a:xfrm>
            <a:off x="6537960" y="2523744"/>
            <a:ext cx="3566160" cy="201168"/>
          </a:xfrm>
          <a:prstGeom prst="rect">
            <a:avLst/>
          </a:prstGeom>
          <a:noFill/>
          <a:ln/>
        </p:spPr>
        <p:txBody>
          <a:bodyPr wrap="square" lIns="0" tIns="0" rIns="0" bIns="0" rtlCol="0" anchor="ctr"/>
          <a:lstStyle/>
          <a:p>
            <a:pPr indent="0" marL="0">
              <a:buNone/>
            </a:pPr>
            <a:r>
              <a:rPr lang="en-US" sz="800" b="1" spc="300" kern="0" dirty="0">
                <a:solidFill>
                  <a:srgbClr val="64748B"/>
                </a:solidFill>
                <a:latin typeface="Calibri" pitchFamily="34" charset="0"/>
                <a:ea typeface="Calibri" pitchFamily="34" charset="-122"/>
                <a:cs typeface="Calibri" pitchFamily="34" charset="-120"/>
              </a:rPr>
              <a:t>CUSTOMER → LIGATO</a:t>
            </a:r>
            <a:endParaRPr lang="en-US" sz="800" dirty="0"/>
          </a:p>
        </p:txBody>
      </p:sp>
      <p:sp>
        <p:nvSpPr>
          <p:cNvPr id="32" name="Text 30"/>
          <p:cNvSpPr/>
          <p:nvPr/>
        </p:nvSpPr>
        <p:spPr>
          <a:xfrm>
            <a:off x="6537960" y="2706624"/>
            <a:ext cx="3566160" cy="274320"/>
          </a:xfrm>
          <a:prstGeom prst="rect">
            <a:avLst/>
          </a:prstGeom>
          <a:noFill/>
          <a:ln/>
        </p:spPr>
        <p:txBody>
          <a:bodyPr wrap="square" lIns="0" tIns="0" rIns="0" bIns="0" rtlCol="0" anchor="ctr"/>
          <a:lstStyle/>
          <a:p>
            <a:pPr indent="0" marL="0">
              <a:buNone/>
            </a:pPr>
            <a:r>
              <a:rPr lang="en-US" sz="1100" dirty="0">
                <a:solidFill>
                  <a:srgbClr val="0B1220"/>
                </a:solidFill>
                <a:latin typeface="Calibri" pitchFamily="34" charset="0"/>
                <a:ea typeface="Calibri" pitchFamily="34" charset="-122"/>
                <a:cs typeface="Calibri" pitchFamily="34" charset="-120"/>
              </a:rPr>
              <a:t>[photo] under-sink leak</a:t>
            </a:r>
            <a:endParaRPr lang="en-US" sz="1100" dirty="0"/>
          </a:p>
        </p:txBody>
      </p:sp>
      <p:sp>
        <p:nvSpPr>
          <p:cNvPr id="33" name="Shape 31"/>
          <p:cNvSpPr/>
          <p:nvPr/>
        </p:nvSpPr>
        <p:spPr>
          <a:xfrm>
            <a:off x="7680960" y="3246120"/>
            <a:ext cx="3840480" cy="548640"/>
          </a:xfrm>
          <a:prstGeom prst="rect">
            <a:avLst/>
          </a:prstGeom>
          <a:solidFill>
            <a:srgbClr val="DCFCE7"/>
          </a:solidFill>
          <a:ln w="9525">
            <a:solidFill>
              <a:srgbClr val="E2E8F0"/>
            </a:solidFill>
            <a:prstDash val="solid"/>
          </a:ln>
        </p:spPr>
      </p:sp>
      <p:sp>
        <p:nvSpPr>
          <p:cNvPr id="34" name="Text 32"/>
          <p:cNvSpPr/>
          <p:nvPr/>
        </p:nvSpPr>
        <p:spPr>
          <a:xfrm>
            <a:off x="7818120" y="3300984"/>
            <a:ext cx="3566160" cy="201168"/>
          </a:xfrm>
          <a:prstGeom prst="rect">
            <a:avLst/>
          </a:prstGeom>
          <a:noFill/>
          <a:ln/>
        </p:spPr>
        <p:txBody>
          <a:bodyPr wrap="square" lIns="0" tIns="0" rIns="0" bIns="0" rtlCol="0" anchor="ctr"/>
          <a:lstStyle/>
          <a:p>
            <a:pPr indent="0" marL="0">
              <a:buNone/>
            </a:pPr>
            <a:r>
              <a:rPr lang="en-US" sz="800" b="1" spc="300" kern="0" dirty="0">
                <a:solidFill>
                  <a:srgbClr val="16A34A"/>
                </a:solidFill>
                <a:latin typeface="Calibri" pitchFamily="34" charset="0"/>
                <a:ea typeface="Calibri" pitchFamily="34" charset="-122"/>
                <a:cs typeface="Calibri" pitchFamily="34" charset="-120"/>
              </a:rPr>
              <a:t>LIGATO → CUSTOMER</a:t>
            </a:r>
            <a:endParaRPr lang="en-US" sz="800" dirty="0"/>
          </a:p>
        </p:txBody>
      </p:sp>
      <p:sp>
        <p:nvSpPr>
          <p:cNvPr id="35" name="Text 33"/>
          <p:cNvSpPr/>
          <p:nvPr/>
        </p:nvSpPr>
        <p:spPr>
          <a:xfrm>
            <a:off x="7818120" y="3483864"/>
            <a:ext cx="3566160" cy="274320"/>
          </a:xfrm>
          <a:prstGeom prst="rect">
            <a:avLst/>
          </a:prstGeom>
          <a:noFill/>
          <a:ln/>
        </p:spPr>
        <p:txBody>
          <a:bodyPr wrap="square" lIns="0" tIns="0" rIns="0" bIns="0" rtlCol="0" anchor="ctr"/>
          <a:lstStyle/>
          <a:p>
            <a:pPr indent="0" marL="0">
              <a:buNone/>
            </a:pPr>
            <a:r>
              <a:rPr lang="en-US" sz="1100" dirty="0">
                <a:solidFill>
                  <a:srgbClr val="0B1220"/>
                </a:solidFill>
                <a:latin typeface="Calibri" pitchFamily="34" charset="0"/>
                <a:ea typeface="Calibri" pitchFamily="34" charset="-122"/>
                <a:cs typeface="Calibri" pitchFamily="34" charset="-120"/>
              </a:rPr>
              <a:t>Got it — reviewing now.</a:t>
            </a:r>
            <a:endParaRPr lang="en-US" sz="1100" dirty="0"/>
          </a:p>
        </p:txBody>
      </p:sp>
      <p:sp>
        <p:nvSpPr>
          <p:cNvPr id="36" name="Shape 34"/>
          <p:cNvSpPr/>
          <p:nvPr/>
        </p:nvSpPr>
        <p:spPr>
          <a:xfrm>
            <a:off x="6400800" y="4023360"/>
            <a:ext cx="3840480" cy="548640"/>
          </a:xfrm>
          <a:prstGeom prst="rect">
            <a:avLst/>
          </a:prstGeom>
          <a:solidFill>
            <a:srgbClr val="F1F5F9"/>
          </a:solidFill>
          <a:ln w="9525">
            <a:solidFill>
              <a:srgbClr val="E2E8F0"/>
            </a:solidFill>
            <a:prstDash val="solid"/>
          </a:ln>
        </p:spPr>
      </p:sp>
      <p:sp>
        <p:nvSpPr>
          <p:cNvPr id="37" name="Text 35"/>
          <p:cNvSpPr/>
          <p:nvPr/>
        </p:nvSpPr>
        <p:spPr>
          <a:xfrm>
            <a:off x="6537960" y="4078224"/>
            <a:ext cx="3566160" cy="201168"/>
          </a:xfrm>
          <a:prstGeom prst="rect">
            <a:avLst/>
          </a:prstGeom>
          <a:noFill/>
          <a:ln/>
        </p:spPr>
        <p:txBody>
          <a:bodyPr wrap="square" lIns="0" tIns="0" rIns="0" bIns="0" rtlCol="0" anchor="ctr"/>
          <a:lstStyle/>
          <a:p>
            <a:pPr indent="0" marL="0">
              <a:buNone/>
            </a:pPr>
            <a:r>
              <a:rPr lang="en-US" sz="800" b="1" spc="300" kern="0" dirty="0">
                <a:solidFill>
                  <a:srgbClr val="64748B"/>
                </a:solidFill>
                <a:latin typeface="Calibri" pitchFamily="34" charset="0"/>
                <a:ea typeface="Calibri" pitchFamily="34" charset="-122"/>
                <a:cs typeface="Calibri" pitchFamily="34" charset="-120"/>
              </a:rPr>
              <a:t>CUSTOMER → LIGATO</a:t>
            </a:r>
            <a:endParaRPr lang="en-US" sz="800" dirty="0"/>
          </a:p>
        </p:txBody>
      </p:sp>
      <p:sp>
        <p:nvSpPr>
          <p:cNvPr id="38" name="Text 36"/>
          <p:cNvSpPr/>
          <p:nvPr/>
        </p:nvSpPr>
        <p:spPr>
          <a:xfrm>
            <a:off x="6537960" y="4261104"/>
            <a:ext cx="3566160" cy="274320"/>
          </a:xfrm>
          <a:prstGeom prst="rect">
            <a:avLst/>
          </a:prstGeom>
          <a:noFill/>
          <a:ln/>
        </p:spPr>
        <p:txBody>
          <a:bodyPr wrap="square" lIns="0" tIns="0" rIns="0" bIns="0" rtlCol="0" anchor="ctr"/>
          <a:lstStyle/>
          <a:p>
            <a:pPr indent="0" marL="0">
              <a:buNone/>
            </a:pPr>
            <a:r>
              <a:rPr lang="en-US" sz="1100" dirty="0">
                <a:solidFill>
                  <a:srgbClr val="0B1220"/>
                </a:solidFill>
                <a:latin typeface="Calibri" pitchFamily="34" charset="0"/>
                <a:ea typeface="Calibri" pitchFamily="34" charset="-122"/>
                <a:cs typeface="Calibri" pitchFamily="34" charset="-120"/>
              </a:rPr>
              <a:t>[photo] candidate valve</a:t>
            </a:r>
            <a:endParaRPr lang="en-US" sz="1100" dirty="0"/>
          </a:p>
        </p:txBody>
      </p:sp>
      <p:sp>
        <p:nvSpPr>
          <p:cNvPr id="39" name="Shape 37"/>
          <p:cNvSpPr/>
          <p:nvPr/>
        </p:nvSpPr>
        <p:spPr>
          <a:xfrm>
            <a:off x="7680960" y="4800600"/>
            <a:ext cx="3840480" cy="548640"/>
          </a:xfrm>
          <a:prstGeom prst="rect">
            <a:avLst/>
          </a:prstGeom>
          <a:solidFill>
            <a:srgbClr val="DCFCE7"/>
          </a:solidFill>
          <a:ln w="9525">
            <a:solidFill>
              <a:srgbClr val="E2E8F0"/>
            </a:solidFill>
            <a:prstDash val="solid"/>
          </a:ln>
        </p:spPr>
      </p:sp>
      <p:sp>
        <p:nvSpPr>
          <p:cNvPr id="40" name="Text 38"/>
          <p:cNvSpPr/>
          <p:nvPr/>
        </p:nvSpPr>
        <p:spPr>
          <a:xfrm>
            <a:off x="7818120" y="4855464"/>
            <a:ext cx="3566160" cy="201168"/>
          </a:xfrm>
          <a:prstGeom prst="rect">
            <a:avLst/>
          </a:prstGeom>
          <a:noFill/>
          <a:ln/>
        </p:spPr>
        <p:txBody>
          <a:bodyPr wrap="square" lIns="0" tIns="0" rIns="0" bIns="0" rtlCol="0" anchor="ctr"/>
          <a:lstStyle/>
          <a:p>
            <a:pPr indent="0" marL="0">
              <a:buNone/>
            </a:pPr>
            <a:r>
              <a:rPr lang="en-US" sz="800" b="1" spc="300" kern="0" dirty="0">
                <a:solidFill>
                  <a:srgbClr val="16A34A"/>
                </a:solidFill>
                <a:latin typeface="Calibri" pitchFamily="34" charset="0"/>
                <a:ea typeface="Calibri" pitchFamily="34" charset="-122"/>
                <a:cs typeface="Calibri" pitchFamily="34" charset="-120"/>
              </a:rPr>
              <a:t>LIGATO → CUSTOMER</a:t>
            </a:r>
            <a:endParaRPr lang="en-US" sz="800" dirty="0"/>
          </a:p>
        </p:txBody>
      </p:sp>
      <p:sp>
        <p:nvSpPr>
          <p:cNvPr id="41" name="Text 39"/>
          <p:cNvSpPr/>
          <p:nvPr/>
        </p:nvSpPr>
        <p:spPr>
          <a:xfrm>
            <a:off x="7818120" y="5038344"/>
            <a:ext cx="3566160" cy="274320"/>
          </a:xfrm>
          <a:prstGeom prst="rect">
            <a:avLst/>
          </a:prstGeom>
          <a:noFill/>
          <a:ln/>
        </p:spPr>
        <p:txBody>
          <a:bodyPr wrap="square" lIns="0" tIns="0" rIns="0" bIns="0" rtlCol="0" anchor="ctr"/>
          <a:lstStyle/>
          <a:p>
            <a:pPr indent="0" marL="0">
              <a:buNone/>
            </a:pPr>
            <a:r>
              <a:rPr lang="en-US" sz="1100" dirty="0">
                <a:solidFill>
                  <a:srgbClr val="0B1220"/>
                </a:solidFill>
                <a:latin typeface="Calibri" pitchFamily="34" charset="0"/>
                <a:ea typeface="Calibri" pitchFamily="34" charset="-122"/>
                <a:cs typeface="Calibri" pitchFamily="34" charset="-120"/>
              </a:rPr>
              <a:t>Got it — reviewing now.</a:t>
            </a:r>
            <a:endParaRPr lang="en-US" sz="1100" dirty="0"/>
          </a:p>
        </p:txBody>
      </p:sp>
      <p:sp>
        <p:nvSpPr>
          <p:cNvPr id="42" name="Shape 40"/>
          <p:cNvSpPr/>
          <p:nvPr/>
        </p:nvSpPr>
        <p:spPr>
          <a:xfrm>
            <a:off x="7680960" y="5577840"/>
            <a:ext cx="3840480" cy="548640"/>
          </a:xfrm>
          <a:prstGeom prst="rect">
            <a:avLst/>
          </a:prstGeom>
          <a:solidFill>
            <a:srgbClr val="DCFCE7"/>
          </a:solidFill>
          <a:ln w="9525">
            <a:solidFill>
              <a:srgbClr val="E2E8F0"/>
            </a:solidFill>
            <a:prstDash val="solid"/>
          </a:ln>
        </p:spPr>
      </p:sp>
      <p:sp>
        <p:nvSpPr>
          <p:cNvPr id="43" name="Text 41"/>
          <p:cNvSpPr/>
          <p:nvPr/>
        </p:nvSpPr>
        <p:spPr>
          <a:xfrm>
            <a:off x="7818120" y="5632704"/>
            <a:ext cx="3566160" cy="201168"/>
          </a:xfrm>
          <a:prstGeom prst="rect">
            <a:avLst/>
          </a:prstGeom>
          <a:noFill/>
          <a:ln/>
        </p:spPr>
        <p:txBody>
          <a:bodyPr wrap="square" lIns="0" tIns="0" rIns="0" bIns="0" rtlCol="0" anchor="ctr"/>
          <a:lstStyle/>
          <a:p>
            <a:pPr indent="0" marL="0">
              <a:buNone/>
            </a:pPr>
            <a:r>
              <a:rPr lang="en-US" sz="800" b="1" spc="300" kern="0" dirty="0">
                <a:solidFill>
                  <a:srgbClr val="16A34A"/>
                </a:solidFill>
                <a:latin typeface="Calibri" pitchFamily="34" charset="0"/>
                <a:ea typeface="Calibri" pitchFamily="34" charset="-122"/>
                <a:cs typeface="Calibri" pitchFamily="34" charset="-120"/>
              </a:rPr>
              <a:t>LIGATO → CUSTOMER</a:t>
            </a:r>
            <a:endParaRPr lang="en-US" sz="800" dirty="0"/>
          </a:p>
        </p:txBody>
      </p:sp>
      <p:sp>
        <p:nvSpPr>
          <p:cNvPr id="44" name="Text 42"/>
          <p:cNvSpPr/>
          <p:nvPr/>
        </p:nvSpPr>
        <p:spPr>
          <a:xfrm>
            <a:off x="7818120" y="5815584"/>
            <a:ext cx="3566160" cy="274320"/>
          </a:xfrm>
          <a:prstGeom prst="rect">
            <a:avLst/>
          </a:prstGeom>
          <a:noFill/>
          <a:ln/>
        </p:spPr>
        <p:txBody>
          <a:bodyPr wrap="square" lIns="0" tIns="0" rIns="0" bIns="0" rtlCol="0" anchor="ctr"/>
          <a:lstStyle/>
          <a:p>
            <a:pPr indent="0" marL="0">
              <a:buNone/>
            </a:pPr>
            <a:r>
              <a:rPr lang="en-US" sz="1100" dirty="0">
                <a:solidFill>
                  <a:srgbClr val="0B1220"/>
                </a:solidFill>
                <a:latin typeface="Calibri" pitchFamily="34" charset="0"/>
                <a:ea typeface="Calibri" pitchFamily="34" charset="-122"/>
                <a:cs typeface="Calibri" pitchFamily="34" charset="-120"/>
              </a:rPr>
              <a:t>Summary: emergency flagged, tech prepped.</a:t>
            </a:r>
            <a:endParaRPr lang="en-US" sz="1100" dirty="0"/>
          </a:p>
        </p:txBody>
      </p:sp>
      <p:sp>
        <p:nvSpPr>
          <p:cNvPr id="45" name="Text 43"/>
          <p:cNvSpPr/>
          <p:nvPr/>
        </p:nvSpPr>
        <p:spPr>
          <a:xfrm>
            <a:off x="640080" y="6492240"/>
            <a:ext cx="4572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Ligato AI Vision</a:t>
            </a:r>
            <a:endParaRPr lang="en-US" sz="900" dirty="0"/>
          </a:p>
        </p:txBody>
      </p:sp>
      <p:sp>
        <p:nvSpPr>
          <p:cNvPr id="46" name="Text 44"/>
          <p:cNvSpPr/>
          <p:nvPr/>
        </p:nvSpPr>
        <p:spPr>
          <a:xfrm>
            <a:off x="11247120" y="6492240"/>
            <a:ext cx="2743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2563EB"/>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640080" y="868680"/>
            <a:ext cx="10607040" cy="1005840"/>
          </a:xfrm>
          <a:prstGeom prst="rect">
            <a:avLst/>
          </a:prstGeom>
          <a:noFill/>
          <a:ln/>
        </p:spPr>
        <p:txBody>
          <a:bodyPr wrap="square" lIns="0" tIns="0" rIns="0" bIns="0" rtlCol="0" anchor="t"/>
          <a:lstStyle/>
          <a:p>
            <a:pPr algn="l" indent="0" marL="0">
              <a:buNone/>
            </a:pPr>
            <a:r>
              <a:rPr lang="en-US" sz="4000" b="1" dirty="0">
                <a:solidFill>
                  <a:srgbClr val="0B1220"/>
                </a:solidFill>
                <a:latin typeface="Calibri" pitchFamily="34" charset="0"/>
                <a:ea typeface="Calibri" pitchFamily="34" charset="-122"/>
                <a:cs typeface="Calibri" pitchFamily="34" charset="-120"/>
              </a:rPr>
              <a:t>One number. Two channels. One brain.</a:t>
            </a:r>
            <a:endParaRPr lang="en-US" sz="4000" dirty="0"/>
          </a:p>
        </p:txBody>
      </p:sp>
      <p:sp>
        <p:nvSpPr>
          <p:cNvPr id="4" name="Shape 2"/>
          <p:cNvSpPr/>
          <p:nvPr/>
        </p:nvSpPr>
        <p:spPr>
          <a:xfrm>
            <a:off x="640080" y="2926080"/>
            <a:ext cx="2194560" cy="1280160"/>
          </a:xfrm>
          <a:prstGeom prst="rect">
            <a:avLst/>
          </a:prstGeom>
          <a:solidFill>
            <a:srgbClr val="FFFFFF"/>
          </a:solidFill>
          <a:ln w="25400">
            <a:solidFill>
              <a:srgbClr val="2563EB"/>
            </a:solidFill>
            <a:prstDash val="solid"/>
          </a:ln>
          <a:effectLst>
            <a:outerShdw sx="100000" sy="100000" kx="0" ky="0" algn="bl" rotWithShape="0" blurRad="127000" dist="25400" dir="8100000">
              <a:srgbClr val="000000">
                <a:alpha val="8000"/>
              </a:srgbClr>
            </a:outerShdw>
          </a:effectLst>
        </p:spPr>
      </p:sp>
      <p:sp>
        <p:nvSpPr>
          <p:cNvPr id="5" name="Text 3"/>
          <p:cNvSpPr/>
          <p:nvPr/>
        </p:nvSpPr>
        <p:spPr>
          <a:xfrm>
            <a:off x="640080" y="3108960"/>
            <a:ext cx="2194560" cy="411480"/>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Customer</a:t>
            </a:r>
            <a:endParaRPr lang="en-US" sz="1600" dirty="0"/>
          </a:p>
        </p:txBody>
      </p:sp>
      <p:sp>
        <p:nvSpPr>
          <p:cNvPr id="6" name="Text 4"/>
          <p:cNvSpPr/>
          <p:nvPr/>
        </p:nvSpPr>
        <p:spPr>
          <a:xfrm>
            <a:off x="640080" y="3566160"/>
            <a:ext cx="2194560" cy="4572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Voice + native SMS</a:t>
            </a:r>
            <a:endParaRPr lang="en-US" sz="1100" dirty="0"/>
          </a:p>
        </p:txBody>
      </p:sp>
      <p:sp>
        <p:nvSpPr>
          <p:cNvPr id="7" name="Shape 5"/>
          <p:cNvSpPr/>
          <p:nvPr/>
        </p:nvSpPr>
        <p:spPr>
          <a:xfrm>
            <a:off x="2834640" y="3566160"/>
            <a:ext cx="914400" cy="0"/>
          </a:xfrm>
          <a:prstGeom prst="line">
            <a:avLst/>
          </a:prstGeom>
          <a:noFill/>
          <a:ln w="19050">
            <a:solidFill>
              <a:srgbClr val="64748B"/>
            </a:solidFill>
            <a:prstDash val="solid"/>
            <a:tailEnd type="triangle"/>
          </a:ln>
        </p:spPr>
      </p:sp>
      <p:sp>
        <p:nvSpPr>
          <p:cNvPr id="8" name="Shape 6"/>
          <p:cNvSpPr/>
          <p:nvPr/>
        </p:nvSpPr>
        <p:spPr>
          <a:xfrm>
            <a:off x="3749040" y="2926080"/>
            <a:ext cx="2194560" cy="1280160"/>
          </a:xfrm>
          <a:prstGeom prst="rect">
            <a:avLst/>
          </a:prstGeom>
          <a:solidFill>
            <a:srgbClr val="FFFFFF"/>
          </a:solidFill>
          <a:ln w="25400">
            <a:solidFill>
              <a:srgbClr val="2563EB"/>
            </a:solidFill>
            <a:prstDash val="solid"/>
          </a:ln>
          <a:effectLst>
            <a:outerShdw sx="100000" sy="100000" kx="0" ky="0" algn="bl" rotWithShape="0" blurRad="127000" dist="25400" dir="8100000">
              <a:srgbClr val="000000">
                <a:alpha val="8000"/>
              </a:srgbClr>
            </a:outerShdw>
          </a:effectLst>
        </p:spPr>
      </p:sp>
      <p:sp>
        <p:nvSpPr>
          <p:cNvPr id="9" name="Text 7"/>
          <p:cNvSpPr/>
          <p:nvPr/>
        </p:nvSpPr>
        <p:spPr>
          <a:xfrm>
            <a:off x="3749040" y="3108960"/>
            <a:ext cx="2194560" cy="411480"/>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Twilio</a:t>
            </a:r>
            <a:endParaRPr lang="en-US" sz="1600" dirty="0"/>
          </a:p>
        </p:txBody>
      </p:sp>
      <p:sp>
        <p:nvSpPr>
          <p:cNvPr id="10" name="Text 8"/>
          <p:cNvSpPr/>
          <p:nvPr/>
        </p:nvSpPr>
        <p:spPr>
          <a:xfrm>
            <a:off x="3749040" y="3566160"/>
            <a:ext cx="2194560" cy="4572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Voice · MMS</a:t>
            </a:r>
            <a:endParaRPr lang="en-US" sz="1100" dirty="0"/>
          </a:p>
        </p:txBody>
      </p:sp>
      <p:sp>
        <p:nvSpPr>
          <p:cNvPr id="11" name="Shape 9"/>
          <p:cNvSpPr/>
          <p:nvPr/>
        </p:nvSpPr>
        <p:spPr>
          <a:xfrm>
            <a:off x="5943600" y="3566160"/>
            <a:ext cx="914400" cy="0"/>
          </a:xfrm>
          <a:prstGeom prst="line">
            <a:avLst/>
          </a:prstGeom>
          <a:noFill/>
          <a:ln w="19050">
            <a:solidFill>
              <a:srgbClr val="64748B"/>
            </a:solidFill>
            <a:prstDash val="solid"/>
            <a:tailEnd type="triangle"/>
          </a:ln>
        </p:spPr>
      </p:sp>
      <p:sp>
        <p:nvSpPr>
          <p:cNvPr id="12" name="Shape 10"/>
          <p:cNvSpPr/>
          <p:nvPr/>
        </p:nvSpPr>
        <p:spPr>
          <a:xfrm>
            <a:off x="6858000" y="2926080"/>
            <a:ext cx="2194560" cy="1280160"/>
          </a:xfrm>
          <a:prstGeom prst="rect">
            <a:avLst/>
          </a:prstGeom>
          <a:solidFill>
            <a:srgbClr val="FFFFFF"/>
          </a:solidFill>
          <a:ln w="25400">
            <a:solidFill>
              <a:srgbClr val="2563EB"/>
            </a:solidFill>
            <a:prstDash val="solid"/>
          </a:ln>
          <a:effectLst>
            <a:outerShdw sx="100000" sy="100000" kx="0" ky="0" algn="bl" rotWithShape="0" blurRad="127000" dist="25400" dir="8100000">
              <a:srgbClr val="000000">
                <a:alpha val="8000"/>
              </a:srgbClr>
            </a:outerShdw>
          </a:effectLst>
        </p:spPr>
      </p:sp>
      <p:sp>
        <p:nvSpPr>
          <p:cNvPr id="13" name="Text 11"/>
          <p:cNvSpPr/>
          <p:nvPr/>
        </p:nvSpPr>
        <p:spPr>
          <a:xfrm>
            <a:off x="6858000" y="3108960"/>
            <a:ext cx="2194560" cy="411480"/>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FastAPI Agent</a:t>
            </a:r>
            <a:endParaRPr lang="en-US" sz="1600" dirty="0"/>
          </a:p>
        </p:txBody>
      </p:sp>
      <p:sp>
        <p:nvSpPr>
          <p:cNvPr id="14" name="Text 12"/>
          <p:cNvSpPr/>
          <p:nvPr/>
        </p:nvSpPr>
        <p:spPr>
          <a:xfrm>
            <a:off x="6858000" y="3566160"/>
            <a:ext cx="2194560" cy="4572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Session store · tool loop</a:t>
            </a:r>
            <a:endParaRPr lang="en-US" sz="1100" dirty="0"/>
          </a:p>
        </p:txBody>
      </p:sp>
      <p:sp>
        <p:nvSpPr>
          <p:cNvPr id="15" name="Shape 13"/>
          <p:cNvSpPr/>
          <p:nvPr/>
        </p:nvSpPr>
        <p:spPr>
          <a:xfrm>
            <a:off x="9052560" y="3566160"/>
            <a:ext cx="914400" cy="0"/>
          </a:xfrm>
          <a:prstGeom prst="line">
            <a:avLst/>
          </a:prstGeom>
          <a:noFill/>
          <a:ln w="19050">
            <a:solidFill>
              <a:srgbClr val="64748B"/>
            </a:solidFill>
            <a:prstDash val="solid"/>
            <a:tailEnd type="triangle"/>
          </a:ln>
        </p:spPr>
      </p:sp>
      <p:sp>
        <p:nvSpPr>
          <p:cNvPr id="16" name="Shape 14"/>
          <p:cNvSpPr/>
          <p:nvPr/>
        </p:nvSpPr>
        <p:spPr>
          <a:xfrm>
            <a:off x="9966960" y="2926080"/>
            <a:ext cx="2194560" cy="1280160"/>
          </a:xfrm>
          <a:prstGeom prst="rect">
            <a:avLst/>
          </a:prstGeom>
          <a:solidFill>
            <a:srgbClr val="FFFFFF"/>
          </a:solidFill>
          <a:ln w="25400">
            <a:solidFill>
              <a:srgbClr val="2563EB"/>
            </a:solidFill>
            <a:prstDash val="solid"/>
          </a:ln>
          <a:effectLst>
            <a:outerShdw sx="100000" sy="100000" kx="0" ky="0" algn="bl" rotWithShape="0" blurRad="127000" dist="25400" dir="8100000">
              <a:srgbClr val="000000">
                <a:alpha val="8000"/>
              </a:srgbClr>
            </a:outerShdw>
          </a:effectLst>
        </p:spPr>
      </p:sp>
      <p:sp>
        <p:nvSpPr>
          <p:cNvPr id="17" name="Text 15"/>
          <p:cNvSpPr/>
          <p:nvPr/>
        </p:nvSpPr>
        <p:spPr>
          <a:xfrm>
            <a:off x="9966960" y="3108960"/>
            <a:ext cx="2194560" cy="411480"/>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Claude Sonnet</a:t>
            </a:r>
            <a:endParaRPr lang="en-US" sz="1600" dirty="0"/>
          </a:p>
        </p:txBody>
      </p:sp>
      <p:sp>
        <p:nvSpPr>
          <p:cNvPr id="18" name="Text 16"/>
          <p:cNvSpPr/>
          <p:nvPr/>
        </p:nvSpPr>
        <p:spPr>
          <a:xfrm>
            <a:off x="9966960" y="3566160"/>
            <a:ext cx="2194560" cy="4572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Voice turn · vision</a:t>
            </a:r>
            <a:endParaRPr lang="en-US" sz="1100" dirty="0"/>
          </a:p>
        </p:txBody>
      </p:sp>
      <p:sp>
        <p:nvSpPr>
          <p:cNvPr id="19" name="Text 17"/>
          <p:cNvSpPr/>
          <p:nvPr/>
        </p:nvSpPr>
        <p:spPr>
          <a:xfrm>
            <a:off x="2743200" y="3703320"/>
            <a:ext cx="109728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voice + SMS</a:t>
            </a:r>
            <a:endParaRPr lang="en-US" sz="1000" dirty="0"/>
          </a:p>
        </p:txBody>
      </p:sp>
      <p:sp>
        <p:nvSpPr>
          <p:cNvPr id="20" name="Text 18"/>
          <p:cNvSpPr/>
          <p:nvPr/>
        </p:nvSpPr>
        <p:spPr>
          <a:xfrm>
            <a:off x="5852160" y="3703320"/>
            <a:ext cx="109728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webhook</a:t>
            </a:r>
            <a:endParaRPr lang="en-US" sz="1000" dirty="0"/>
          </a:p>
        </p:txBody>
      </p:sp>
      <p:sp>
        <p:nvSpPr>
          <p:cNvPr id="21" name="Text 19"/>
          <p:cNvSpPr/>
          <p:nvPr/>
        </p:nvSpPr>
        <p:spPr>
          <a:xfrm>
            <a:off x="8961120" y="3703320"/>
            <a:ext cx="109728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tool use</a:t>
            </a:r>
            <a:endParaRPr lang="en-US" sz="1000" dirty="0"/>
          </a:p>
        </p:txBody>
      </p:sp>
      <p:sp>
        <p:nvSpPr>
          <p:cNvPr id="22" name="Text 20"/>
          <p:cNvSpPr/>
          <p:nvPr/>
        </p:nvSpPr>
        <p:spPr>
          <a:xfrm>
            <a:off x="640080" y="5029200"/>
            <a:ext cx="10972800" cy="1097280"/>
          </a:xfrm>
          <a:prstGeom prst="rect">
            <a:avLst/>
          </a:prstGeom>
          <a:noFill/>
          <a:ln/>
        </p:spPr>
        <p:txBody>
          <a:bodyPr wrap="square" lIns="0" tIns="0" rIns="0" bIns="0" rtlCol="0" anchor="ctr"/>
          <a:lstStyle/>
          <a:p>
            <a:pPr indent="0" marL="0">
              <a:lnSpc>
                <a:spcPct val="135000"/>
              </a:lnSpc>
              <a:buNone/>
            </a:pPr>
            <a:r>
              <a:rPr lang="en-US" sz="1400" i="1" dirty="0">
                <a:solidFill>
                  <a:srgbClr val="64748B"/>
                </a:solidFill>
                <a:latin typeface="Calibri" pitchFamily="34" charset="0"/>
                <a:ea typeface="Calibri" pitchFamily="34" charset="-122"/>
                <a:cs typeface="Calibri" pitchFamily="34" charset="-120"/>
              </a:rPr>
              <a:t>Sessions are keyed by the caller’s phone number — no login, no app, no account. Inbound MMS from that number is routed into the live voice session automatically.</a:t>
            </a:r>
            <a:endParaRPr lang="en-US" sz="1400" dirty="0"/>
          </a:p>
        </p:txBody>
      </p:sp>
      <p:sp>
        <p:nvSpPr>
          <p:cNvPr id="23" name="Text 21"/>
          <p:cNvSpPr/>
          <p:nvPr/>
        </p:nvSpPr>
        <p:spPr>
          <a:xfrm>
            <a:off x="640080" y="6492240"/>
            <a:ext cx="4572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Ligato AI Vision</a:t>
            </a:r>
            <a:endParaRPr lang="en-US" sz="900" dirty="0"/>
          </a:p>
        </p:txBody>
      </p:sp>
      <p:sp>
        <p:nvSpPr>
          <p:cNvPr id="24" name="Text 22"/>
          <p:cNvSpPr/>
          <p:nvPr/>
        </p:nvSpPr>
        <p:spPr>
          <a:xfrm>
            <a:off x="11247120" y="6492240"/>
            <a:ext cx="2743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2563EB"/>
                </a:solidFill>
                <a:latin typeface="Calibri" pitchFamily="34" charset="0"/>
                <a:ea typeface="Calibri" pitchFamily="34" charset="-122"/>
                <a:cs typeface="Calibri" pitchFamily="34" charset="-120"/>
              </a:rPr>
              <a:t>UNIT ECONOMICS</a:t>
            </a:r>
            <a:endParaRPr lang="en-US" sz="1100" dirty="0"/>
          </a:p>
        </p:txBody>
      </p:sp>
      <p:sp>
        <p:nvSpPr>
          <p:cNvPr id="3" name="Text 1"/>
          <p:cNvSpPr/>
          <p:nvPr/>
        </p:nvSpPr>
        <p:spPr>
          <a:xfrm>
            <a:off x="640080" y="868680"/>
            <a:ext cx="10515600" cy="1005840"/>
          </a:xfrm>
          <a:prstGeom prst="rect">
            <a:avLst/>
          </a:prstGeom>
          <a:noFill/>
          <a:ln/>
        </p:spPr>
        <p:txBody>
          <a:bodyPr wrap="square" lIns="0" tIns="0" rIns="0" bIns="0" rtlCol="0" anchor="t"/>
          <a:lstStyle/>
          <a:p>
            <a:pPr algn="l" indent="0" marL="0">
              <a:buNone/>
            </a:pPr>
            <a:r>
              <a:rPr lang="en-US" sz="3600" b="1" dirty="0">
                <a:solidFill>
                  <a:srgbClr val="0B1220"/>
                </a:solidFill>
                <a:latin typeface="Calibri" pitchFamily="34" charset="0"/>
                <a:ea typeface="Calibri" pitchFamily="34" charset="-122"/>
                <a:cs typeface="Calibri" pitchFamily="34" charset="-120"/>
              </a:rPr>
              <a:t>About $0.28 per handled emergency.</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7772400" cy="914400"/>
        </p:xfrm>
        <a:graphic>
          <a:graphicData uri="http://schemas.openxmlformats.org/drawingml/2006/table">
            <a:tbl>
              <a:tblPr/>
              <a:tblGrid>
                <a:gridCol w="3474720"/>
                <a:gridCol w="2286000"/>
                <a:gridCol w="20116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Line item</a:t>
                      </a:r>
                      <a:endParaRPr lang="en-US" sz="13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22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Unit cost</a:t>
                      </a:r>
                      <a:endParaRPr lang="en-US" sz="13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22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Per call</a:t>
                      </a:r>
                      <a:endParaRPr lang="en-US" sz="13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220"/>
                    </a:solidFill>
                  </a:tcPr>
                </a:tc>
              </a:tr>
              <a:tr h="457200">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Twilio voice minutes</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$0.014 / min</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~$0.07 (5 min)</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Twilio MMS out</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$0.02 / msg</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~$0.04 (2 msgs)</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Twilio MMS in</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$0.02 / msg</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~$0.04 (2 msgs)</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Claude voice tokens</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$0.003/1K in · $0.015/1K out</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~$0.12</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Claude vision</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~$0.006 / image</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B1220"/>
                          </a:solidFill>
                          <a:latin typeface="Calibri" pitchFamily="34" charset="0"/>
                          <a:ea typeface="Calibri" pitchFamily="34" charset="-122"/>
                          <a:cs typeface="Calibri" pitchFamily="34" charset="-120"/>
                        </a:rPr>
                        <a:t>~$0.015 (2–3 images)</a:t>
                      </a:r>
                      <a:endParaRPr lang="en-US" sz="12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indent="0" marL="0">
                        <a:buNone/>
                      </a:pPr>
                      <a:r>
                        <a:rPr lang="en-US" sz="1300" b="1" dirty="0">
                          <a:solidFill>
                            <a:srgbClr val="1D4ED8"/>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indent="0" marL="0">
                        <a:buNone/>
                      </a:pPr>
                      <a:r>
                        <a:rPr lang="en-US" sz="1300" dirty="0">
                          <a:solidFill>
                            <a:srgbClr val="1D4ED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indent="0" marL="0">
                        <a:buNone/>
                      </a:pPr>
                      <a:r>
                        <a:rPr lang="en-US" sz="1300" b="1" dirty="0">
                          <a:solidFill>
                            <a:srgbClr val="1D4ED8"/>
                          </a:solidFill>
                          <a:latin typeface="Calibri" pitchFamily="34" charset="0"/>
                          <a:ea typeface="Calibri" pitchFamily="34" charset="-122"/>
                          <a:cs typeface="Calibri" pitchFamily="34" charset="-120"/>
                        </a:rPr>
                        <a:t>~$0.28 / call</a:t>
                      </a:r>
                      <a:endParaRPr lang="en-US" sz="13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r>
            </a:tbl>
          </a:graphicData>
        </a:graphic>
      </p:graphicFrame>
      <p:sp>
        <p:nvSpPr>
          <p:cNvPr id="5" name="Shape 2"/>
          <p:cNvSpPr/>
          <p:nvPr/>
        </p:nvSpPr>
        <p:spPr>
          <a:xfrm>
            <a:off x="8869680" y="2103120"/>
            <a:ext cx="2743200" cy="3383280"/>
          </a:xfrm>
          <a:prstGeom prst="rect">
            <a:avLst/>
          </a:prstGeom>
          <a:solidFill>
            <a:srgbClr val="0B1220"/>
          </a:solidFill>
          <a:ln w="12700">
            <a:solidFill>
              <a:srgbClr val="0B1220"/>
            </a:solidFill>
            <a:prstDash val="solid"/>
          </a:ln>
        </p:spPr>
      </p:sp>
      <p:sp>
        <p:nvSpPr>
          <p:cNvPr id="6" name="Text 3"/>
          <p:cNvSpPr/>
          <p:nvPr/>
        </p:nvSpPr>
        <p:spPr>
          <a:xfrm>
            <a:off x="9098280" y="2377440"/>
            <a:ext cx="2286000" cy="82296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Net new cost vs.</a:t>
            </a:r>
            <a:endParaRPr lang="en-US" sz="1400" dirty="0"/>
          </a:p>
          <a:p>
            <a:pPr indent="0" marL="0">
              <a:buNone/>
            </a:pPr>
            <a:r>
              <a:rPr lang="en-US" sz="1400" dirty="0">
                <a:solidFill>
                  <a:srgbClr val="CBD5E1"/>
                </a:solidFill>
                <a:latin typeface="Calibri" pitchFamily="34" charset="0"/>
                <a:ea typeface="Calibri" pitchFamily="34" charset="-122"/>
                <a:cs typeface="Calibri" pitchFamily="34" charset="-120"/>
              </a:rPr>
              <a:t>one missed job:</a:t>
            </a:r>
            <a:endParaRPr lang="en-US" sz="1400" dirty="0"/>
          </a:p>
        </p:txBody>
      </p:sp>
      <p:sp>
        <p:nvSpPr>
          <p:cNvPr id="7" name="Text 4"/>
          <p:cNvSpPr/>
          <p:nvPr/>
        </p:nvSpPr>
        <p:spPr>
          <a:xfrm>
            <a:off x="8869680" y="3291840"/>
            <a:ext cx="2743200" cy="1280160"/>
          </a:xfrm>
          <a:prstGeom prst="rect">
            <a:avLst/>
          </a:prstGeom>
          <a:noFill/>
          <a:ln/>
        </p:spPr>
        <p:txBody>
          <a:bodyPr wrap="square" lIns="0" tIns="0" rIns="0" bIns="0" rtlCol="0" anchor="ctr"/>
          <a:lstStyle/>
          <a:p>
            <a:pPr algn="ctr" indent="0" marL="0">
              <a:buNone/>
            </a:pPr>
            <a:r>
              <a:rPr lang="en-US" sz="4600" b="1" dirty="0">
                <a:solidFill>
                  <a:srgbClr val="F59E0B"/>
                </a:solidFill>
                <a:latin typeface="Calibri" pitchFamily="34" charset="0"/>
                <a:ea typeface="Calibri" pitchFamily="34" charset="-122"/>
                <a:cs typeface="Calibri" pitchFamily="34" charset="-120"/>
              </a:rPr>
              <a:t>&lt; 1 / 1000</a:t>
            </a:r>
            <a:endParaRPr lang="en-US" sz="4600" dirty="0"/>
          </a:p>
        </p:txBody>
      </p:sp>
      <p:sp>
        <p:nvSpPr>
          <p:cNvPr id="8" name="Text 5"/>
          <p:cNvSpPr/>
          <p:nvPr/>
        </p:nvSpPr>
        <p:spPr>
          <a:xfrm>
            <a:off x="9098280" y="4754880"/>
            <a:ext cx="2286000" cy="1005840"/>
          </a:xfrm>
          <a:prstGeom prst="rect">
            <a:avLst/>
          </a:prstGeom>
          <a:noFill/>
          <a:ln/>
        </p:spPr>
        <p:txBody>
          <a:bodyPr wrap="square" lIns="0" tIns="0" rIns="0" bIns="0" rtlCol="0" anchor="ctr"/>
          <a:lstStyle/>
          <a:p>
            <a:pPr indent="0" marL="0">
              <a:lnSpc>
                <a:spcPct val="130000"/>
              </a:lnSpc>
              <a:buNone/>
            </a:pPr>
            <a:r>
              <a:rPr lang="en-US" sz="1200" i="1" dirty="0">
                <a:solidFill>
                  <a:srgbClr val="CBD5E1"/>
                </a:solidFill>
                <a:latin typeface="Calibri" pitchFamily="34" charset="0"/>
                <a:ea typeface="Calibri" pitchFamily="34" charset="-122"/>
                <a:cs typeface="Calibri" pitchFamily="34" charset="-120"/>
              </a:rPr>
              <a:t>The math is not the hard part. The product is.</a:t>
            </a:r>
            <a:endParaRPr lang="en-US" sz="1200" dirty="0"/>
          </a:p>
        </p:txBody>
      </p:sp>
      <p:sp>
        <p:nvSpPr>
          <p:cNvPr id="9" name="Text 6"/>
          <p:cNvSpPr/>
          <p:nvPr/>
        </p:nvSpPr>
        <p:spPr>
          <a:xfrm>
            <a:off x="640080" y="6492240"/>
            <a:ext cx="4572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Ligato AI Vision</a:t>
            </a:r>
            <a:endParaRPr lang="en-US" sz="900" dirty="0"/>
          </a:p>
        </p:txBody>
      </p:sp>
      <p:sp>
        <p:nvSpPr>
          <p:cNvPr id="10" name="Text 7"/>
          <p:cNvSpPr/>
          <p:nvPr/>
        </p:nvSpPr>
        <p:spPr>
          <a:xfrm>
            <a:off x="11247120" y="6492240"/>
            <a:ext cx="2743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2563EB"/>
                </a:solidFill>
                <a:latin typeface="Calibri" pitchFamily="34" charset="0"/>
                <a:ea typeface="Calibri" pitchFamily="34" charset="-122"/>
                <a:cs typeface="Calibri" pitchFamily="34" charset="-120"/>
              </a:rPr>
              <a:t>RISKS &amp; SAFEGUARDS</a:t>
            </a:r>
            <a:endParaRPr lang="en-US" sz="1100" dirty="0"/>
          </a:p>
        </p:txBody>
      </p:sp>
      <p:sp>
        <p:nvSpPr>
          <p:cNvPr id="3" name="Text 1"/>
          <p:cNvSpPr/>
          <p:nvPr/>
        </p:nvSpPr>
        <p:spPr>
          <a:xfrm>
            <a:off x="640080" y="868680"/>
            <a:ext cx="10607040" cy="1005840"/>
          </a:xfrm>
          <a:prstGeom prst="rect">
            <a:avLst/>
          </a:prstGeom>
          <a:noFill/>
          <a:ln/>
        </p:spPr>
        <p:txBody>
          <a:bodyPr wrap="square" lIns="0" tIns="0" rIns="0" bIns="0" rtlCol="0" anchor="t"/>
          <a:lstStyle/>
          <a:p>
            <a:pPr algn="l" indent="0" marL="0">
              <a:buNone/>
            </a:pPr>
            <a:r>
              <a:rPr lang="en-US" sz="4000" b="1" dirty="0">
                <a:solidFill>
                  <a:srgbClr val="0B1220"/>
                </a:solidFill>
                <a:latin typeface="Calibri" pitchFamily="34" charset="0"/>
                <a:ea typeface="Calibri" pitchFamily="34" charset="-122"/>
                <a:cs typeface="Calibri" pitchFamily="34" charset="-120"/>
              </a:rPr>
              <a:t>The AI will tell someone to shut off water. We’d better be right.</a:t>
            </a:r>
            <a:endParaRPr lang="en-US" sz="4000" dirty="0"/>
          </a:p>
        </p:txBody>
      </p:sp>
      <p:sp>
        <p:nvSpPr>
          <p:cNvPr id="4" name="Shape 2"/>
          <p:cNvSpPr/>
          <p:nvPr/>
        </p:nvSpPr>
        <p:spPr>
          <a:xfrm>
            <a:off x="640080" y="2286000"/>
            <a:ext cx="5303520" cy="1691640"/>
          </a:xfrm>
          <a:prstGeom prst="rect">
            <a:avLst/>
          </a:prstGeom>
          <a:solidFill>
            <a:srgbClr val="FFFFFF"/>
          </a:solidFill>
          <a:ln w="12700">
            <a:solidFill>
              <a:srgbClr val="E2E8F0"/>
            </a:solidFill>
            <a:prstDash val="solid"/>
          </a:ln>
        </p:spPr>
      </p:sp>
      <p:sp>
        <p:nvSpPr>
          <p:cNvPr id="5" name="Shape 3"/>
          <p:cNvSpPr/>
          <p:nvPr/>
        </p:nvSpPr>
        <p:spPr>
          <a:xfrm>
            <a:off x="640080" y="2286000"/>
            <a:ext cx="73152" cy="1691640"/>
          </a:xfrm>
          <a:prstGeom prst="rect">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914400" y="2606040"/>
            <a:ext cx="457200" cy="457200"/>
          </a:xfrm>
          <a:prstGeom prst="rect">
            <a:avLst/>
          </a:prstGeom>
        </p:spPr>
      </p:pic>
      <p:sp>
        <p:nvSpPr>
          <p:cNvPr id="7" name="Text 4"/>
          <p:cNvSpPr/>
          <p:nvPr/>
        </p:nvSpPr>
        <p:spPr>
          <a:xfrm>
            <a:off x="1554480" y="2560320"/>
            <a:ext cx="4206240" cy="36576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Confirm before action</a:t>
            </a:r>
            <a:endParaRPr lang="en-US" sz="1700" dirty="0"/>
          </a:p>
        </p:txBody>
      </p:sp>
      <p:sp>
        <p:nvSpPr>
          <p:cNvPr id="8" name="Text 5"/>
          <p:cNvSpPr/>
          <p:nvPr/>
        </p:nvSpPr>
        <p:spPr>
          <a:xfrm>
            <a:off x="1554480" y="2971800"/>
            <a:ext cx="4206240" cy="868680"/>
          </a:xfrm>
          <a:prstGeom prst="rect">
            <a:avLst/>
          </a:prstGeom>
          <a:noFill/>
          <a:ln/>
        </p:spPr>
        <p:txBody>
          <a:bodyPr wrap="square" lIns="0" tIns="0" rIns="0" bIns="0" rtlCol="0" anchor="ctr"/>
          <a:lstStyle/>
          <a:p>
            <a:pPr indent="0" marL="0">
              <a:lnSpc>
                <a:spcPct val="135000"/>
              </a:lnSpc>
              <a:buNone/>
            </a:pPr>
            <a:r>
              <a:rPr lang="en-US" sz="1200" dirty="0">
                <a:solidFill>
                  <a:srgbClr val="64748B"/>
                </a:solidFill>
                <a:latin typeface="Calibri" pitchFamily="34" charset="0"/>
                <a:ea typeface="Calibri" pitchFamily="34" charset="-122"/>
                <a:cs typeface="Calibri" pitchFamily="34" charset="-120"/>
              </a:rPr>
              <a:t>Agent never says 'turn that valve' until vision confirms it IS the valve. Two-step interaction, not one.</a:t>
            </a:r>
            <a:endParaRPr lang="en-US" sz="1200" dirty="0"/>
          </a:p>
        </p:txBody>
      </p:sp>
      <p:sp>
        <p:nvSpPr>
          <p:cNvPr id="9" name="Shape 6"/>
          <p:cNvSpPr/>
          <p:nvPr/>
        </p:nvSpPr>
        <p:spPr>
          <a:xfrm>
            <a:off x="6309360" y="2286000"/>
            <a:ext cx="5303520" cy="1691640"/>
          </a:xfrm>
          <a:prstGeom prst="rect">
            <a:avLst/>
          </a:prstGeom>
          <a:solidFill>
            <a:srgbClr val="FFFFFF"/>
          </a:solidFill>
          <a:ln w="12700">
            <a:solidFill>
              <a:srgbClr val="E2E8F0"/>
            </a:solidFill>
            <a:prstDash val="solid"/>
          </a:ln>
        </p:spPr>
      </p:sp>
      <p:sp>
        <p:nvSpPr>
          <p:cNvPr id="10" name="Shape 7"/>
          <p:cNvSpPr/>
          <p:nvPr/>
        </p:nvSpPr>
        <p:spPr>
          <a:xfrm>
            <a:off x="6309360" y="2286000"/>
            <a:ext cx="73152" cy="1691640"/>
          </a:xfrm>
          <a:prstGeom prst="rect">
            <a:avLst/>
          </a:prstGeom>
          <a:solidFill>
            <a:srgbClr val="DC2626"/>
          </a:solidFill>
          <a:ln w="127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6583680" y="2606040"/>
            <a:ext cx="457200" cy="457200"/>
          </a:xfrm>
          <a:prstGeom prst="rect">
            <a:avLst/>
          </a:prstGeom>
        </p:spPr>
      </p:pic>
      <p:sp>
        <p:nvSpPr>
          <p:cNvPr id="12" name="Text 8"/>
          <p:cNvSpPr/>
          <p:nvPr/>
        </p:nvSpPr>
        <p:spPr>
          <a:xfrm>
            <a:off x="7223760" y="2560320"/>
            <a:ext cx="4206240" cy="36576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Hard-gate dangers</a:t>
            </a:r>
            <a:endParaRPr lang="en-US" sz="1700" dirty="0"/>
          </a:p>
        </p:txBody>
      </p:sp>
      <p:sp>
        <p:nvSpPr>
          <p:cNvPr id="13" name="Text 9"/>
          <p:cNvSpPr/>
          <p:nvPr/>
        </p:nvSpPr>
        <p:spPr>
          <a:xfrm>
            <a:off x="7223760" y="2971800"/>
            <a:ext cx="4206240" cy="868680"/>
          </a:xfrm>
          <a:prstGeom prst="rect">
            <a:avLst/>
          </a:prstGeom>
          <a:noFill/>
          <a:ln/>
        </p:spPr>
        <p:txBody>
          <a:bodyPr wrap="square" lIns="0" tIns="0" rIns="0" bIns="0" rtlCol="0" anchor="ctr"/>
          <a:lstStyle/>
          <a:p>
            <a:pPr indent="0" marL="0">
              <a:lnSpc>
                <a:spcPct val="135000"/>
              </a:lnSpc>
              <a:buNone/>
            </a:pPr>
            <a:r>
              <a:rPr lang="en-US" sz="1200" dirty="0">
                <a:solidFill>
                  <a:srgbClr val="64748B"/>
                </a:solidFill>
                <a:latin typeface="Calibri" pitchFamily="34" charset="0"/>
                <a:ea typeface="Calibri" pitchFamily="34" charset="-122"/>
                <a:cs typeface="Calibri" pitchFamily="34" charset="-120"/>
              </a:rPr>
              <a:t>Gas smell, sparking, active electrical issues → escalate_to_human + tell them to leave.</a:t>
            </a:r>
            <a:endParaRPr lang="en-US" sz="1200" dirty="0"/>
          </a:p>
        </p:txBody>
      </p:sp>
      <p:sp>
        <p:nvSpPr>
          <p:cNvPr id="14" name="Shape 10"/>
          <p:cNvSpPr/>
          <p:nvPr/>
        </p:nvSpPr>
        <p:spPr>
          <a:xfrm>
            <a:off x="640080" y="4206240"/>
            <a:ext cx="5303520" cy="1691640"/>
          </a:xfrm>
          <a:prstGeom prst="rect">
            <a:avLst/>
          </a:prstGeom>
          <a:solidFill>
            <a:srgbClr val="FFFFFF"/>
          </a:solidFill>
          <a:ln w="12700">
            <a:solidFill>
              <a:srgbClr val="E2E8F0"/>
            </a:solidFill>
            <a:prstDash val="solid"/>
          </a:ln>
        </p:spPr>
      </p:sp>
      <p:sp>
        <p:nvSpPr>
          <p:cNvPr id="15" name="Shape 11"/>
          <p:cNvSpPr/>
          <p:nvPr/>
        </p:nvSpPr>
        <p:spPr>
          <a:xfrm>
            <a:off x="640080" y="4206240"/>
            <a:ext cx="73152" cy="1691640"/>
          </a:xfrm>
          <a:prstGeom prst="rect">
            <a:avLst/>
          </a:prstGeom>
          <a:solidFill>
            <a:srgbClr val="DC2626"/>
          </a:solidFill>
          <a:ln w="12700">
            <a:solidFill>
              <a:srgbClr val="DC2626"/>
            </a:solidFill>
            <a:prstDash val="solid"/>
          </a:ln>
        </p:spPr>
      </p:sp>
      <p:pic>
        <p:nvPicPr>
          <p:cNvPr id="16" name="Image 2" descr="preencoded.png">    </p:cNvPr>
          <p:cNvPicPr>
            <a:picLocks noChangeAspect="1"/>
          </p:cNvPicPr>
          <p:nvPr/>
        </p:nvPicPr>
        <p:blipFill>
          <a:blip r:embed="rId3"/>
          <a:stretch>
            <a:fillRect/>
          </a:stretch>
        </p:blipFill>
        <p:spPr>
          <a:xfrm>
            <a:off x="914400" y="4526280"/>
            <a:ext cx="457200" cy="457200"/>
          </a:xfrm>
          <a:prstGeom prst="rect">
            <a:avLst/>
          </a:prstGeom>
        </p:spPr>
      </p:pic>
      <p:sp>
        <p:nvSpPr>
          <p:cNvPr id="17" name="Text 12"/>
          <p:cNvSpPr/>
          <p:nvPr/>
        </p:nvSpPr>
        <p:spPr>
          <a:xfrm>
            <a:off x="1554480" y="4480560"/>
            <a:ext cx="4206240" cy="36576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120-second timeout</a:t>
            </a:r>
            <a:endParaRPr lang="en-US" sz="1700" dirty="0"/>
          </a:p>
        </p:txBody>
      </p:sp>
      <p:sp>
        <p:nvSpPr>
          <p:cNvPr id="18" name="Text 13"/>
          <p:cNvSpPr/>
          <p:nvPr/>
        </p:nvSpPr>
        <p:spPr>
          <a:xfrm>
            <a:off x="1554480" y="4892040"/>
            <a:ext cx="4206240" cy="868680"/>
          </a:xfrm>
          <a:prstGeom prst="rect">
            <a:avLst/>
          </a:prstGeom>
          <a:noFill/>
          <a:ln/>
        </p:spPr>
        <p:txBody>
          <a:bodyPr wrap="square" lIns="0" tIns="0" rIns="0" bIns="0" rtlCol="0" anchor="ctr"/>
          <a:lstStyle/>
          <a:p>
            <a:pPr indent="0" marL="0">
              <a:lnSpc>
                <a:spcPct val="135000"/>
              </a:lnSpc>
              <a:buNone/>
            </a:pPr>
            <a:r>
              <a:rPr lang="en-US" sz="1200" dirty="0">
                <a:solidFill>
                  <a:srgbClr val="64748B"/>
                </a:solidFill>
                <a:latin typeface="Calibri" pitchFamily="34" charset="0"/>
                <a:ea typeface="Calibri" pitchFamily="34" charset="-122"/>
                <a:cs typeface="Calibri" pitchFamily="34" charset="-120"/>
              </a:rPr>
              <a:t>If customer never sends a photo, agent moves on gracefully or escalates. No hanging silence.</a:t>
            </a:r>
            <a:endParaRPr lang="en-US" sz="1200" dirty="0"/>
          </a:p>
        </p:txBody>
      </p:sp>
      <p:sp>
        <p:nvSpPr>
          <p:cNvPr id="19" name="Shape 14"/>
          <p:cNvSpPr/>
          <p:nvPr/>
        </p:nvSpPr>
        <p:spPr>
          <a:xfrm>
            <a:off x="6309360" y="4206240"/>
            <a:ext cx="5303520" cy="1691640"/>
          </a:xfrm>
          <a:prstGeom prst="rect">
            <a:avLst/>
          </a:prstGeom>
          <a:solidFill>
            <a:srgbClr val="FFFFFF"/>
          </a:solidFill>
          <a:ln w="12700">
            <a:solidFill>
              <a:srgbClr val="E2E8F0"/>
            </a:solidFill>
            <a:prstDash val="solid"/>
          </a:ln>
        </p:spPr>
      </p:sp>
      <p:sp>
        <p:nvSpPr>
          <p:cNvPr id="20" name="Shape 15"/>
          <p:cNvSpPr/>
          <p:nvPr/>
        </p:nvSpPr>
        <p:spPr>
          <a:xfrm>
            <a:off x="6309360" y="4206240"/>
            <a:ext cx="73152" cy="1691640"/>
          </a:xfrm>
          <a:prstGeom prst="rect">
            <a:avLst/>
          </a:prstGeom>
          <a:solidFill>
            <a:srgbClr val="DC2626"/>
          </a:solidFill>
          <a:ln w="12700">
            <a:solidFill>
              <a:srgbClr val="DC2626"/>
            </a:solidFill>
            <a:prstDash val="solid"/>
          </a:ln>
        </p:spPr>
      </p:sp>
      <p:pic>
        <p:nvPicPr>
          <p:cNvPr id="21" name="Image 3" descr="preencoded.png">    </p:cNvPr>
          <p:cNvPicPr>
            <a:picLocks noChangeAspect="1"/>
          </p:cNvPicPr>
          <p:nvPr/>
        </p:nvPicPr>
        <p:blipFill>
          <a:blip r:embed="rId4"/>
          <a:stretch>
            <a:fillRect/>
          </a:stretch>
        </p:blipFill>
        <p:spPr>
          <a:xfrm>
            <a:off x="6583680" y="4526280"/>
            <a:ext cx="457200" cy="457200"/>
          </a:xfrm>
          <a:prstGeom prst="rect">
            <a:avLst/>
          </a:prstGeom>
        </p:spPr>
      </p:pic>
      <p:sp>
        <p:nvSpPr>
          <p:cNvPr id="22" name="Text 16"/>
          <p:cNvSpPr/>
          <p:nvPr/>
        </p:nvSpPr>
        <p:spPr>
          <a:xfrm>
            <a:off x="7223760" y="4480560"/>
            <a:ext cx="4206240" cy="36576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Human review queue</a:t>
            </a:r>
            <a:endParaRPr lang="en-US" sz="1700" dirty="0"/>
          </a:p>
        </p:txBody>
      </p:sp>
      <p:sp>
        <p:nvSpPr>
          <p:cNvPr id="23" name="Text 17"/>
          <p:cNvSpPr/>
          <p:nvPr/>
        </p:nvSpPr>
        <p:spPr>
          <a:xfrm>
            <a:off x="7223760" y="4892040"/>
            <a:ext cx="4206240" cy="868680"/>
          </a:xfrm>
          <a:prstGeom prst="rect">
            <a:avLst/>
          </a:prstGeom>
          <a:noFill/>
          <a:ln/>
        </p:spPr>
        <p:txBody>
          <a:bodyPr wrap="square" lIns="0" tIns="0" rIns="0" bIns="0" rtlCol="0" anchor="ctr"/>
          <a:lstStyle/>
          <a:p>
            <a:pPr indent="0" marL="0">
              <a:lnSpc>
                <a:spcPct val="135000"/>
              </a:lnSpc>
              <a:buNone/>
            </a:pPr>
            <a:r>
              <a:rPr lang="en-US" sz="1200" dirty="0">
                <a:solidFill>
                  <a:srgbClr val="64748B"/>
                </a:solidFill>
                <a:latin typeface="Calibri" pitchFamily="34" charset="0"/>
                <a:ea typeface="Calibri" pitchFamily="34" charset="-122"/>
                <a:cs typeface="Calibri" pitchFamily="34" charset="-120"/>
              </a:rPr>
              <a:t>First 30 days: every vision result reviewed by a plumbing ops lead. Ship when ≥90% agreement on severity.</a:t>
            </a:r>
            <a:endParaRPr lang="en-US" sz="1200" dirty="0"/>
          </a:p>
        </p:txBody>
      </p:sp>
      <p:sp>
        <p:nvSpPr>
          <p:cNvPr id="24" name="Text 18"/>
          <p:cNvSpPr/>
          <p:nvPr/>
        </p:nvSpPr>
        <p:spPr>
          <a:xfrm>
            <a:off x="640080" y="6492240"/>
            <a:ext cx="4572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Ligato AI Vision</a:t>
            </a:r>
            <a:endParaRPr lang="en-US" sz="900" dirty="0"/>
          </a:p>
        </p:txBody>
      </p:sp>
      <p:sp>
        <p:nvSpPr>
          <p:cNvPr id="25" name="Text 19"/>
          <p:cNvSpPr/>
          <p:nvPr/>
        </p:nvSpPr>
        <p:spPr>
          <a:xfrm>
            <a:off x="11247120" y="6492240"/>
            <a:ext cx="2743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F59E0B"/>
          </a:solidFill>
          <a:ln w="12700">
            <a:solidFill>
              <a:srgbClr val="F59E0B"/>
            </a:solidFill>
            <a:prstDash val="solid"/>
          </a:ln>
        </p:spPr>
      </p:sp>
      <p:sp>
        <p:nvSpPr>
          <p:cNvPr id="3" name="Text 1"/>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400" kern="0" dirty="0">
                <a:solidFill>
                  <a:srgbClr val="F59E0B"/>
                </a:solidFill>
                <a:latin typeface="Calibri" pitchFamily="34" charset="0"/>
                <a:ea typeface="Calibri" pitchFamily="34" charset="-122"/>
                <a:cs typeface="Calibri" pitchFamily="34" charset="-120"/>
              </a:rPr>
              <a:t>WHAT WE’RE ASKING FOR</a:t>
            </a:r>
            <a:endParaRPr lang="en-US" sz="1100" dirty="0"/>
          </a:p>
        </p:txBody>
      </p:sp>
      <p:sp>
        <p:nvSpPr>
          <p:cNvPr id="4" name="Text 2"/>
          <p:cNvSpPr/>
          <p:nvPr/>
        </p:nvSpPr>
        <p:spPr>
          <a:xfrm>
            <a:off x="640080" y="868680"/>
            <a:ext cx="10607040" cy="1005840"/>
          </a:xfrm>
          <a:prstGeom prst="rect">
            <a:avLst/>
          </a:prstGeom>
          <a:noFill/>
          <a:ln/>
        </p:spPr>
        <p:txBody>
          <a:bodyPr wrap="square" lIns="0" tIns="0" rIns="0" bIns="0" rtlCol="0" anchor="t"/>
          <a:lstStyle/>
          <a:p>
            <a:pPr algn="l" indent="0" marL="0">
              <a:buNone/>
            </a:pPr>
            <a:r>
              <a:rPr lang="en-US" sz="3800" b="1" dirty="0">
                <a:solidFill>
                  <a:srgbClr val="FFFFFF"/>
                </a:solidFill>
                <a:latin typeface="Calibri" pitchFamily="34" charset="0"/>
                <a:ea typeface="Calibri" pitchFamily="34" charset="-122"/>
                <a:cs typeface="Calibri" pitchFamily="34" charset="-120"/>
              </a:rPr>
              <a:t>6 weeks to Beta. 8 weeks to GA.</a:t>
            </a:r>
            <a:endParaRPr lang="en-US" sz="3800" dirty="0"/>
          </a:p>
        </p:txBody>
      </p:sp>
      <p:sp>
        <p:nvSpPr>
          <p:cNvPr id="5" name="Text 3"/>
          <p:cNvSpPr/>
          <p:nvPr/>
        </p:nvSpPr>
        <p:spPr>
          <a:xfrm>
            <a:off x="640080" y="1965960"/>
            <a:ext cx="10972800" cy="640080"/>
          </a:xfrm>
          <a:prstGeom prst="rect">
            <a:avLst/>
          </a:prstGeom>
          <a:noFill/>
          <a:ln/>
        </p:spPr>
        <p:txBody>
          <a:bodyPr wrap="square" lIns="0" tIns="0" rIns="0" bIns="0" rtlCol="0" anchor="ctr"/>
          <a:lstStyle/>
          <a:p>
            <a:pPr indent="0" marL="0">
              <a:lnSpc>
                <a:spcPct val="130000"/>
              </a:lnSpc>
              <a:buNone/>
            </a:pPr>
            <a:r>
              <a:rPr lang="en-US" sz="1600" i="1" dirty="0">
                <a:solidFill>
                  <a:srgbClr val="CBD5E1"/>
                </a:solidFill>
                <a:latin typeface="Calibri" pitchFamily="34" charset="0"/>
                <a:ea typeface="Calibri" pitchFamily="34" charset="-122"/>
                <a:cs typeface="Calibri" pitchFamily="34" charset="-120"/>
              </a:rPr>
              <a:t>A single 8-week build, sequenced to de-risk vision accuracy before we put it in front of paying customers.</a:t>
            </a:r>
            <a:endParaRPr lang="en-US" sz="1600" dirty="0"/>
          </a:p>
        </p:txBody>
      </p:sp>
      <p:sp>
        <p:nvSpPr>
          <p:cNvPr id="6" name="Shape 4"/>
          <p:cNvSpPr/>
          <p:nvPr/>
        </p:nvSpPr>
        <p:spPr>
          <a:xfrm>
            <a:off x="640080" y="3017520"/>
            <a:ext cx="10972800" cy="822960"/>
          </a:xfrm>
          <a:prstGeom prst="rect">
            <a:avLst/>
          </a:prstGeom>
          <a:solidFill>
            <a:srgbClr val="1E293B"/>
          </a:solidFill>
          <a:ln/>
        </p:spPr>
      </p:sp>
      <p:sp>
        <p:nvSpPr>
          <p:cNvPr id="7" name="Shape 5"/>
          <p:cNvSpPr/>
          <p:nvPr/>
        </p:nvSpPr>
        <p:spPr>
          <a:xfrm>
            <a:off x="640080" y="3017520"/>
            <a:ext cx="2743200" cy="822960"/>
          </a:xfrm>
          <a:prstGeom prst="rect">
            <a:avLst/>
          </a:prstGeom>
          <a:solidFill>
            <a:srgbClr val="2563EB"/>
          </a:solidFill>
          <a:ln/>
        </p:spPr>
      </p:sp>
      <p:sp>
        <p:nvSpPr>
          <p:cNvPr id="8" name="Shape 6"/>
          <p:cNvSpPr/>
          <p:nvPr/>
        </p:nvSpPr>
        <p:spPr>
          <a:xfrm>
            <a:off x="3383280" y="3017520"/>
            <a:ext cx="5486400" cy="822960"/>
          </a:xfrm>
          <a:prstGeom prst="rect">
            <a:avLst/>
          </a:prstGeom>
          <a:solidFill>
            <a:srgbClr val="F59E0B"/>
          </a:solidFill>
          <a:ln/>
        </p:spPr>
      </p:sp>
      <p:sp>
        <p:nvSpPr>
          <p:cNvPr id="9" name="Shape 7"/>
          <p:cNvSpPr/>
          <p:nvPr/>
        </p:nvSpPr>
        <p:spPr>
          <a:xfrm>
            <a:off x="8869680" y="3017520"/>
            <a:ext cx="2743200" cy="822960"/>
          </a:xfrm>
          <a:prstGeom prst="rect">
            <a:avLst/>
          </a:prstGeom>
          <a:solidFill>
            <a:srgbClr val="16A34A"/>
          </a:solidFill>
          <a:ln/>
        </p:spPr>
      </p:sp>
      <p:sp>
        <p:nvSpPr>
          <p:cNvPr id="10" name="Text 8"/>
          <p:cNvSpPr/>
          <p:nvPr/>
        </p:nvSpPr>
        <p:spPr>
          <a:xfrm>
            <a:off x="640080" y="3108960"/>
            <a:ext cx="2743200" cy="274320"/>
          </a:xfrm>
          <a:prstGeom prst="rect">
            <a:avLst/>
          </a:prstGeom>
          <a:noFill/>
          <a:ln/>
        </p:spPr>
        <p:txBody>
          <a:bodyPr wrap="square" lIns="0" tIns="0" rIns="0" bIns="0" rtlCol="0" anchor="ctr"/>
          <a:lstStyle/>
          <a:p>
            <a:pPr algn="ctr" indent="0" marL="0">
              <a:buNone/>
            </a:pPr>
            <a:r>
              <a:rPr lang="en-US" sz="1000" b="1" spc="400" kern="0" dirty="0">
                <a:solidFill>
                  <a:srgbClr val="FFFFFF"/>
                </a:solidFill>
                <a:latin typeface="Calibri" pitchFamily="34" charset="0"/>
                <a:ea typeface="Calibri" pitchFamily="34" charset="-122"/>
                <a:cs typeface="Calibri" pitchFamily="34" charset="-120"/>
              </a:rPr>
              <a:t>PHASE 0</a:t>
            </a:r>
            <a:endParaRPr lang="en-US" sz="1000" dirty="0"/>
          </a:p>
        </p:txBody>
      </p:sp>
      <p:sp>
        <p:nvSpPr>
          <p:cNvPr id="11" name="Text 9"/>
          <p:cNvSpPr/>
          <p:nvPr/>
        </p:nvSpPr>
        <p:spPr>
          <a:xfrm>
            <a:off x="640080" y="3383280"/>
            <a:ext cx="27432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Internal testing</a:t>
            </a:r>
            <a:endParaRPr lang="en-US" sz="1200" dirty="0"/>
          </a:p>
        </p:txBody>
      </p:sp>
      <p:sp>
        <p:nvSpPr>
          <p:cNvPr id="12" name="Text 10"/>
          <p:cNvSpPr/>
          <p:nvPr/>
        </p:nvSpPr>
        <p:spPr>
          <a:xfrm>
            <a:off x="3383280" y="3108960"/>
            <a:ext cx="5486400" cy="274320"/>
          </a:xfrm>
          <a:prstGeom prst="rect">
            <a:avLst/>
          </a:prstGeom>
          <a:noFill/>
          <a:ln/>
        </p:spPr>
        <p:txBody>
          <a:bodyPr wrap="square" lIns="0" tIns="0" rIns="0" bIns="0" rtlCol="0" anchor="ctr"/>
          <a:lstStyle/>
          <a:p>
            <a:pPr algn="ctr" indent="0" marL="0">
              <a:buNone/>
            </a:pPr>
            <a:r>
              <a:rPr lang="en-US" sz="1000" b="1" spc="400" kern="0" dirty="0">
                <a:solidFill>
                  <a:srgbClr val="1F1100"/>
                </a:solidFill>
                <a:latin typeface="Calibri" pitchFamily="34" charset="0"/>
                <a:ea typeface="Calibri" pitchFamily="34" charset="-122"/>
                <a:cs typeface="Calibri" pitchFamily="34" charset="-120"/>
              </a:rPr>
              <a:t>PHASE 1</a:t>
            </a:r>
            <a:endParaRPr lang="en-US" sz="1000" dirty="0"/>
          </a:p>
        </p:txBody>
      </p:sp>
      <p:sp>
        <p:nvSpPr>
          <p:cNvPr id="13" name="Text 11"/>
          <p:cNvSpPr/>
          <p:nvPr/>
        </p:nvSpPr>
        <p:spPr>
          <a:xfrm>
            <a:off x="3383280" y="3383280"/>
            <a:ext cx="5486400" cy="365760"/>
          </a:xfrm>
          <a:prstGeom prst="rect">
            <a:avLst/>
          </a:prstGeom>
          <a:noFill/>
          <a:ln/>
        </p:spPr>
        <p:txBody>
          <a:bodyPr wrap="square" lIns="0" tIns="0" rIns="0" bIns="0" rtlCol="0" anchor="ctr"/>
          <a:lstStyle/>
          <a:p>
            <a:pPr algn="ctr" indent="0" marL="0">
              <a:buNone/>
            </a:pPr>
            <a:r>
              <a:rPr lang="en-US" sz="1200" dirty="0">
                <a:solidFill>
                  <a:srgbClr val="1F1100"/>
                </a:solidFill>
                <a:latin typeface="Calibri" pitchFamily="34" charset="0"/>
                <a:ea typeface="Calibri" pitchFamily="34" charset="-122"/>
                <a:cs typeface="Calibri" pitchFamily="34" charset="-120"/>
              </a:rPr>
              <a:t>Beta · 2–3 friendly shops</a:t>
            </a:r>
            <a:endParaRPr lang="en-US" sz="1200" dirty="0"/>
          </a:p>
        </p:txBody>
      </p:sp>
      <p:sp>
        <p:nvSpPr>
          <p:cNvPr id="14" name="Text 12"/>
          <p:cNvSpPr/>
          <p:nvPr/>
        </p:nvSpPr>
        <p:spPr>
          <a:xfrm>
            <a:off x="8869680" y="3108960"/>
            <a:ext cx="2743200" cy="274320"/>
          </a:xfrm>
          <a:prstGeom prst="rect">
            <a:avLst/>
          </a:prstGeom>
          <a:noFill/>
          <a:ln/>
        </p:spPr>
        <p:txBody>
          <a:bodyPr wrap="square" lIns="0" tIns="0" rIns="0" bIns="0" rtlCol="0" anchor="ctr"/>
          <a:lstStyle/>
          <a:p>
            <a:pPr algn="ctr" indent="0" marL="0">
              <a:buNone/>
            </a:pPr>
            <a:r>
              <a:rPr lang="en-US" sz="1000" b="1" spc="400" kern="0" dirty="0">
                <a:solidFill>
                  <a:srgbClr val="FFFFFF"/>
                </a:solidFill>
                <a:latin typeface="Calibri" pitchFamily="34" charset="0"/>
                <a:ea typeface="Calibri" pitchFamily="34" charset="-122"/>
                <a:cs typeface="Calibri" pitchFamily="34" charset="-120"/>
              </a:rPr>
              <a:t>PHASE 2</a:t>
            </a:r>
            <a:endParaRPr lang="en-US" sz="1000" dirty="0"/>
          </a:p>
        </p:txBody>
      </p:sp>
      <p:sp>
        <p:nvSpPr>
          <p:cNvPr id="15" name="Text 13"/>
          <p:cNvSpPr/>
          <p:nvPr/>
        </p:nvSpPr>
        <p:spPr>
          <a:xfrm>
            <a:off x="8869680" y="3383280"/>
            <a:ext cx="27432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GA</a:t>
            </a:r>
            <a:endParaRPr lang="en-US" sz="1200" dirty="0"/>
          </a:p>
        </p:txBody>
      </p:sp>
      <p:sp>
        <p:nvSpPr>
          <p:cNvPr id="16" name="Text 14"/>
          <p:cNvSpPr/>
          <p:nvPr/>
        </p:nvSpPr>
        <p:spPr>
          <a:xfrm>
            <a:off x="640080" y="3977640"/>
            <a:ext cx="27432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Weeks 1–2</a:t>
            </a:r>
            <a:endParaRPr lang="en-US" sz="1100" dirty="0"/>
          </a:p>
        </p:txBody>
      </p:sp>
      <p:sp>
        <p:nvSpPr>
          <p:cNvPr id="17" name="Text 15"/>
          <p:cNvSpPr/>
          <p:nvPr/>
        </p:nvSpPr>
        <p:spPr>
          <a:xfrm>
            <a:off x="3383280" y="3977640"/>
            <a:ext cx="54864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Weeks 3–6</a:t>
            </a:r>
            <a:endParaRPr lang="en-US" sz="1100" dirty="0"/>
          </a:p>
        </p:txBody>
      </p:sp>
      <p:sp>
        <p:nvSpPr>
          <p:cNvPr id="18" name="Text 16"/>
          <p:cNvSpPr/>
          <p:nvPr/>
        </p:nvSpPr>
        <p:spPr>
          <a:xfrm>
            <a:off x="8869680" y="3977640"/>
            <a:ext cx="27432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Weeks 7–8</a:t>
            </a:r>
            <a:endParaRPr lang="en-US" sz="1100" dirty="0"/>
          </a:p>
        </p:txBody>
      </p:sp>
      <p:sp>
        <p:nvSpPr>
          <p:cNvPr id="19" name="Text 17"/>
          <p:cNvSpPr/>
          <p:nvPr/>
        </p:nvSpPr>
        <p:spPr>
          <a:xfrm>
            <a:off x="640080" y="4754880"/>
            <a:ext cx="10972800" cy="1005840"/>
          </a:xfrm>
          <a:prstGeom prst="rect">
            <a:avLst/>
          </a:prstGeom>
          <a:noFill/>
          <a:ln/>
        </p:spPr>
        <p:txBody>
          <a:bodyPr wrap="square" lIns="0" tIns="0" rIns="0" bIns="0" rtlCol="0" anchor="ctr"/>
          <a:lstStyle/>
          <a:p>
            <a:pPr indent="0" marL="0">
              <a:lnSpc>
                <a:spcPct val="140000"/>
              </a:lnSpc>
              <a:buNone/>
            </a:pPr>
            <a:r>
              <a:rPr lang="en-US" sz="1500" b="1" dirty="0">
                <a:solidFill>
                  <a:srgbClr val="F59E0B"/>
                </a:solidFill>
                <a:latin typeface="Calibri" pitchFamily="34" charset="0"/>
                <a:ea typeface="Calibri" pitchFamily="34" charset="-122"/>
                <a:cs typeface="Calibri" pitchFamily="34" charset="-120"/>
              </a:rPr>
              <a:t>The ask.  </a:t>
            </a:r>
            <a:pPr indent="0" marL="0">
              <a:lnSpc>
                <a:spcPct val="140000"/>
              </a:lnSpc>
              <a:buNone/>
            </a:pPr>
            <a:r>
              <a:rPr lang="en-US" sz="1500" dirty="0">
                <a:solidFill>
                  <a:srgbClr val="CBD5E1"/>
                </a:solidFill>
                <a:latin typeface="Calibri" pitchFamily="34" charset="0"/>
                <a:ea typeface="Calibri" pitchFamily="34" charset="-122"/>
                <a:cs typeface="Calibri" pitchFamily="34" charset="-120"/>
              </a:rPr>
              <a:t>1 engineer (full-time, 8 weeks) · 1 plumbing ops lead (half-time, review queue) · Twilio MMS line · ~$2K of Anthropic API credit for eval.</a:t>
            </a:r>
            <a:endParaRPr lang="en-US" sz="1500" dirty="0"/>
          </a:p>
        </p:txBody>
      </p:sp>
      <p:sp>
        <p:nvSpPr>
          <p:cNvPr id="20" name="Text 18"/>
          <p:cNvSpPr/>
          <p:nvPr/>
        </p:nvSpPr>
        <p:spPr>
          <a:xfrm>
            <a:off x="640080" y="5760720"/>
            <a:ext cx="10972800" cy="3657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Pricing: $29/mo add-on to the existing Ligato plan. Pays back on one saved emergency per year.</a:t>
            </a:r>
            <a:endParaRPr lang="en-US" sz="1200" dirty="0"/>
          </a:p>
        </p:txBody>
      </p:sp>
      <p:sp>
        <p:nvSpPr>
          <p:cNvPr id="21" name="Text 19"/>
          <p:cNvSpPr/>
          <p:nvPr/>
        </p:nvSpPr>
        <p:spPr>
          <a:xfrm>
            <a:off x="640080" y="6492240"/>
            <a:ext cx="45720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Ligato AI Vision</a:t>
            </a:r>
            <a:endParaRPr lang="en-US" sz="900" dirty="0"/>
          </a:p>
        </p:txBody>
      </p:sp>
      <p:sp>
        <p:nvSpPr>
          <p:cNvPr id="22" name="Text 20"/>
          <p:cNvSpPr/>
          <p:nvPr/>
        </p:nvSpPr>
        <p:spPr>
          <a:xfrm>
            <a:off x="11247120" y="6492240"/>
            <a:ext cx="27432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Ligato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Ligato AI Vision — Investor &amp; Team Deck</dc:title>
  <dc:subject>PptxGenJS Presentation</dc:subject>
  <dc:creator>Ligato AI</dc:creator>
  <cp:lastModifiedBy>Ligato AI</cp:lastModifiedBy>
  <cp:revision>1</cp:revision>
  <dcterms:created xsi:type="dcterms:W3CDTF">2026-04-17T22:51:32Z</dcterms:created>
  <dcterms:modified xsi:type="dcterms:W3CDTF">2026-04-17T22:51:32Z</dcterms:modified>
</cp:coreProperties>
</file>